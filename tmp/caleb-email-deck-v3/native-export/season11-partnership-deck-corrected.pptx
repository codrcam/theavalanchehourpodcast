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1d1881f884beb" /><Relationship Type="http://schemas.openxmlformats.org/officeDocument/2006/relationships/extended-properties" Target="/docProps/app.xml" Id="Rebffba9ea6c74ee1" /><Relationship Type="http://schemas.openxmlformats.org/officeDocument/2006/relationships/officeDocument" Target="/ppt/presentation.xml" Id="R78f655c41866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3bbde31e5a475a"/>
  </p:sldMasterIdLst>
  <p:notesMasterIdLst>
    <p:notesMasterId xmlns:r="http://schemas.openxmlformats.org/officeDocument/2006/relationships" r:id="R961c4cc8bd1c49e9"/>
  </p:notesMasterIdLst>
  <p:sldIdLst>
    <p:sldId xmlns:r="http://schemas.openxmlformats.org/officeDocument/2006/relationships" id="256" r:id="Rca6573d853234152"/>
    <p:sldId xmlns:r="http://schemas.openxmlformats.org/officeDocument/2006/relationships" id="257" r:id="Rc19a682ef5e64aa6"/>
    <p:sldId xmlns:r="http://schemas.openxmlformats.org/officeDocument/2006/relationships" id="258" r:id="R983432f35b0745bf"/>
    <p:sldId xmlns:r="http://schemas.openxmlformats.org/officeDocument/2006/relationships" id="259" r:id="R3c9f9e602c394255"/>
    <p:sldId xmlns:r="http://schemas.openxmlformats.org/officeDocument/2006/relationships" id="260" r:id="R41ae270faada4db0"/>
    <p:sldId xmlns:r="http://schemas.openxmlformats.org/officeDocument/2006/relationships" id="261" r:id="R7890e0a5846a492b"/>
    <p:sldId xmlns:r="http://schemas.openxmlformats.org/officeDocument/2006/relationships" id="262" r:id="Rb796e5592ee74ef6"/>
    <p:sldId xmlns:r="http://schemas.openxmlformats.org/officeDocument/2006/relationships" id="263" r:id="Rf4b84bdb64124034"/>
    <p:sldId xmlns:r="http://schemas.openxmlformats.org/officeDocument/2006/relationships" id="264" r:id="R4bf8fc3133884639"/>
    <p:sldId xmlns:r="http://schemas.openxmlformats.org/officeDocument/2006/relationships" id="265" r:id="R0155eb1975734c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f4d35985d94207" /><Relationship Type="http://schemas.openxmlformats.org/officeDocument/2006/relationships/slideMaster" Target="/ppt/slideMasters/slideMaster1.xml" Id="R1f3bbde31e5a475a" /><Relationship Type="http://schemas.openxmlformats.org/officeDocument/2006/relationships/notesMaster" Target="/ppt/notesMasters/notesMaster1.xml" Id="R961c4cc8bd1c49e9" /><Relationship Type="http://schemas.openxmlformats.org/officeDocument/2006/relationships/presProps" Target="/ppt/presProps.xml" Id="R25e39fb7a6f140bb" /><Relationship Type="http://schemas.openxmlformats.org/officeDocument/2006/relationships/tableStyles" Target="/ppt/tableStyles.xml" Id="Ra4275f6194ad4ce1" /><Relationship Type="http://schemas.openxmlformats.org/officeDocument/2006/relationships/slide" Target="/ppt/slides/slide1.xml" Id="Rca6573d853234152" /><Relationship Type="http://schemas.openxmlformats.org/officeDocument/2006/relationships/slide" Target="/ppt/slides/slide2.xml" Id="Rc19a682ef5e64aa6" /><Relationship Type="http://schemas.openxmlformats.org/officeDocument/2006/relationships/slide" Target="/ppt/slides/slide3.xml" Id="R983432f35b0745bf" /><Relationship Type="http://schemas.openxmlformats.org/officeDocument/2006/relationships/slide" Target="/ppt/slides/slide4.xml" Id="R3c9f9e602c394255" /><Relationship Type="http://schemas.openxmlformats.org/officeDocument/2006/relationships/slide" Target="/ppt/slides/slide5.xml" Id="R41ae270faada4db0" /><Relationship Type="http://schemas.openxmlformats.org/officeDocument/2006/relationships/slide" Target="/ppt/slides/slide6.xml" Id="R7890e0a5846a492b" /><Relationship Type="http://schemas.openxmlformats.org/officeDocument/2006/relationships/slide" Target="/ppt/slides/slide7.xml" Id="Rb796e5592ee74ef6" /><Relationship Type="http://schemas.openxmlformats.org/officeDocument/2006/relationships/slide" Target="/ppt/slides/slide8.xml" Id="Rf4b84bdb64124034" /><Relationship Type="http://schemas.openxmlformats.org/officeDocument/2006/relationships/slide" Target="/ppt/slides/slide9.xml" Id="R4bf8fc3133884639" /><Relationship Type="http://schemas.openxmlformats.org/officeDocument/2006/relationships/slide" Target="/ppt/slides/slide10.xml" Id="R0155eb1975734c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6463ab482e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e64e6dc1d140a2" /><Relationship Type="http://schemas.openxmlformats.org/officeDocument/2006/relationships/notesMaster" Target="/ppt/notesMasters/notesMaster1.xml" Id="Re7a80a89db06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8f102ccca74f80" /><Relationship Type="http://schemas.openxmlformats.org/officeDocument/2006/relationships/notesMaster" Target="/ppt/notesMasters/notesMaster1.xml" Id="R0e3711ecd0b0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dd1a6ac97b478f" /><Relationship Type="http://schemas.openxmlformats.org/officeDocument/2006/relationships/notesMaster" Target="/ppt/notesMasters/notesMaster1.xml" Id="R8e7ca7c52fd94e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d288245501462f" /><Relationship Type="http://schemas.openxmlformats.org/officeDocument/2006/relationships/notesMaster" Target="/ppt/notesMasters/notesMaster1.xml" Id="R2f7b49f38b6745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5a078939a4de6" /><Relationship Type="http://schemas.openxmlformats.org/officeDocument/2006/relationships/notesMaster" Target="/ppt/notesMasters/notesMaster1.xml" Id="R773522978be64e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16956030d64d53" /><Relationship Type="http://schemas.openxmlformats.org/officeDocument/2006/relationships/notesMaster" Target="/ppt/notesMasters/notesMaster1.xml" Id="Rc1c35760f4c847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5219d60c214144" /><Relationship Type="http://schemas.openxmlformats.org/officeDocument/2006/relationships/notesMaster" Target="/ppt/notesMasters/notesMaster1.xml" Id="Ra9d2a0292f5841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8ff470d304a82" /><Relationship Type="http://schemas.openxmlformats.org/officeDocument/2006/relationships/notesMaster" Target="/ppt/notesMasters/notesMaster1.xml" Id="R84b9235dfe7041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7fde7e5ef3403b" /><Relationship Type="http://schemas.openxmlformats.org/officeDocument/2006/relationships/notesMaster" Target="/ppt/notesMasters/notesMaster1.xml" Id="R9ae5080c85dd44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8732fce3cf4e41" /><Relationship Type="http://schemas.openxmlformats.org/officeDocument/2006/relationships/notesMaster" Target="/ppt/notesMasters/notesMaster1.xml" Id="R8243a1183410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(cover artwork and visual direction).</a:t>
            </a:r>
          </a:p>
          <a:p xmlns:a="http://schemas.openxmlformats.org/drawingml/2006/main">
            <a:r>
              <a:t>- User-provided planning context, August 20, 2026 (year-round window, nearly weekly cadence, selected two-release weeks, 38 planned releases).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(hand-drawn show artwork and show description).</a:t>
            </a:r>
          </a:p>
          <a:p xmlns:a="http://schemas.openxmlformats.org/drawingml/2006/main">
            <a:r>
              <a:t>- Season 11 planning source, lib/season11MastermindSchedule.mjs, and user-provided planning context (29 regular releases + 9 Slabs ’n Sluffs releases).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(mountain banner and audience infographic).</a:t>
            </a:r>
          </a:p>
          <a:p xmlns:a="http://schemas.openxmlformats.org/drawingml/2006/main">
            <a:r>
              <a:t>- Audience metrics transcribed from the email infographic: 964K plays since October 2016; 69K plays in 12 months; 4K plays/downloads per episode within three months; 44% growth since Season 9; 1,500 new Instagram followers; 77K+ all-time listeners reached.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(demographic source graphic).</a:t>
            </a:r>
          </a:p>
          <a:p xmlns:a="http://schemas.openxmlformats.org/drawingml/2006/main">
            <a:r>
              <a:t>- Gender data: male 78.3%, female 18.3%, non-binary 0.7%, not specified 2.7%.</a:t>
            </a:r>
          </a:p>
          <a:p xmlns:a="http://schemas.openxmlformats.org/drawingml/2006/main">
            <a:r>
              <a:t>- Age data: 0–17 0.1%, 18–22 1.9%, 23–27 11.6%, 28–34 33.9%, 35–44 30.8%, 45–59 15.8%, 60+ 5.8%, unknown 0%.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(host collage and host list).</a:t>
            </a:r>
          </a:p>
          <a:p xmlns:a="http://schemas.openxmlformats.org/drawingml/2006/main">
            <a:r>
              <a:t>- Anna Heuberger spelling verified at https://lawine.salzburg.at/en/organisation/staff.</a:t>
            </a:r>
          </a:p>
          <a:p xmlns:a="http://schemas.openxmlformats.org/drawingml/2006/main">
            <a:r>
              <a:t>- Gabrielle Antonioli spelling verified at https://www.montana.edu/earthsciences/graduate-program/students/antonioli.html.</a:t>
            </a:r>
          </a:p>
          <a:p xmlns:a="http://schemas.openxmlformats.org/drawingml/2006/main">
            <a:r>
              <a:t>- Pascal Haegeli spelling verified at https://www.sfu.ca/rem/about/people/haegeli.html.</a:t>
            </a:r>
          </a:p>
          <a:p xmlns:a="http://schemas.openxmlformats.org/drawingml/2006/main">
            <a:r>
              <a:t>- Brendan Cronin follows the current Season 11 planning source, lib/season11MastermindSchedule.mjs.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2026, embedded listener-review images (review titles, usernames, dates, and summarized review themes).</a:t>
            </a:r>
          </a:p>
          <a:p xmlns:a="http://schemas.openxmlformats.org/drawingml/2006/main">
            <a:r>
              <a:t>- The body copy uses direct review excerpts; the WhistleTrout excerpt is lightly copyedited for punctuation and grammar without changing its meaning.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(Austin Powder and Propagation Labs testimonials).</a:t>
            </a:r>
          </a:p>
          <a:p xmlns:a="http://schemas.openxmlformats.org/drawingml/2006/main">
            <a:r>
              <a:t>- Current project sponsor assets, public/images/sponsors/AustinPowder.png and public/images/sponsors/prop_labs.jpg.</a:t>
            </a:r>
          </a:p>
          <a:p xmlns:a="http://schemas.openxmlformats.org/drawingml/2006/main">
            <a:r>
              <a:t>- Direct testimonial excerpts reproduced from Caleb’s email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Merrill’s original Season 11 underwriting deck, package slide (package names, prices, and benefits).</a:t>
            </a:r>
          </a:p>
          <a:p xmlns:a="http://schemas.openxmlformats.org/drawingml/2006/main">
            <a:r>
              <a:t>- User instruction that Caleb’s source deck—not the website—is authoritative for package information.</a:t>
            </a:r>
          </a:p>
          <a:p xmlns:a="http://schemas.openxmlformats.org/drawingml/2006/main">
            <a:r>
              <a:t>- The newest email’s package screenshot reflects an older website state with the plus signs reversed; the original package slide values are retained here.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(Slabs ’n Sluffs artwork and monthly show format).</a:t>
            </a:r>
          </a:p>
          <a:p xmlns:a="http://schemas.openxmlformats.org/drawingml/2006/main">
            <a:r>
              <a:t>- Caleb Merrill’s original Season 11 underwriting deck, package slide (Slabs ’n Sluffs price and benefits).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Caleb Merrill, “Season 11 Partnership Pitch” email, August 20, 2026 (fieldwork closing banner and Instagram icon).</a:t>
            </a:r>
          </a:p>
          <a:p xmlns:a="http://schemas.openxmlformats.org/drawingml/2006/main">
            <a:r>
              <a:t>- Current project support-page path and contact details, pages/support.js.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e5d0e25b63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6c1e178c54e25" /><Relationship Type="http://schemas.openxmlformats.org/officeDocument/2006/relationships/slideLayout" Target="/ppt/slideLayouts/slideLayout1.xml" Id="R35b8927221df45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8927221df45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cd93cb97e44fe" /><Relationship Type="http://schemas.openxmlformats.org/officeDocument/2006/relationships/image" Target="/ppt/media/image.jpeg" Id="R49cf31ea22f24898" /><Relationship Type="http://schemas.openxmlformats.org/officeDocument/2006/relationships/notesSlide" Target="/ppt/notesSlides/notesSlide1.xml" Id="Rb666a5885164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13f2307b244a5" /><Relationship Type="http://schemas.openxmlformats.org/officeDocument/2006/relationships/image" Target="/ppt/media/image.png" Id="R5c9348cff9f344c8" /><Relationship Type="http://schemas.openxmlformats.org/officeDocument/2006/relationships/notesSlide" Target="/ppt/notesSlides/notesSlide2.xml" Id="R19db85c6d7584f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5de9b92734e3a" /><Relationship Type="http://schemas.openxmlformats.org/officeDocument/2006/relationships/image" Target="/ppt/media/image2.jpeg" Id="R3add827ba341409d" /><Relationship Type="http://schemas.openxmlformats.org/officeDocument/2006/relationships/notesSlide" Target="/ppt/notesSlides/notesSlide3.xml" Id="Rf51beac9034c46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d7acd170f4089" /><Relationship Type="http://schemas.openxmlformats.org/officeDocument/2006/relationships/chart" Target="/ppt/slides/charts/chart1.xml" Id="R751813e31e834ae5" /><Relationship Type="http://schemas.openxmlformats.org/officeDocument/2006/relationships/notesSlide" Target="/ppt/notesSlides/notesSlide4.xml" Id="R97315bffacb7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d478a29724279" /><Relationship Type="http://schemas.openxmlformats.org/officeDocument/2006/relationships/image" Target="/ppt/media/image3.jpeg" Id="R1c377f309ce24305" /><Relationship Type="http://schemas.openxmlformats.org/officeDocument/2006/relationships/notesSlide" Target="/ppt/notesSlides/notesSlide5.xml" Id="R80d7409f815541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e0d307a8d41a3" /><Relationship Type="http://schemas.openxmlformats.org/officeDocument/2006/relationships/notesSlide" Target="/ppt/notesSlides/notesSlide6.xml" Id="R10cdc7d32bd342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5b47003904b6b" /><Relationship Type="http://schemas.openxmlformats.org/officeDocument/2006/relationships/image" Target="/ppt/media/image2.png" Id="Rb0386bdd6dc04ae3" /><Relationship Type="http://schemas.openxmlformats.org/officeDocument/2006/relationships/image" Target="/ppt/media/image3.png" Id="R68fefc6cf34149ec" /><Relationship Type="http://schemas.openxmlformats.org/officeDocument/2006/relationships/notesSlide" Target="/ppt/notesSlides/notesSlide7.xml" Id="Rb73cd77dc09440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16ee526c04693" /><Relationship Type="http://schemas.openxmlformats.org/officeDocument/2006/relationships/notesSlide" Target="/ppt/notesSlides/notesSlide8.xml" Id="R3784b890ee5843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9cb40467b4b56" /><Relationship Type="http://schemas.openxmlformats.org/officeDocument/2006/relationships/image" Target="/ppt/media/image4.jpeg" Id="R13b424ecb66e4e17" /><Relationship Type="http://schemas.openxmlformats.org/officeDocument/2006/relationships/notesSlide" Target="/ppt/notesSlides/notesSlide9.xml" Id="Rdccf3c167f144f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675d5e1ea4037" /><Relationship Type="http://schemas.openxmlformats.org/officeDocument/2006/relationships/image" Target="/ppt/media/image5.jpeg" Id="R2ef29f48db344c42" /><Relationship Type="http://schemas.openxmlformats.org/officeDocument/2006/relationships/notesSlide" Target="/ppt/notesSlides/notesSlide10.xml" Id="Rc9f8221246da4604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Audience share</c:v>
          </c:tx>
          <c:dPt>
            <c:idx val="0"/>
            <c:spPr>
              <a:solidFill xmlns:a="http://schemas.openxmlformats.org/drawingml/2006/main">
                <a:srgbClr val="10222D"/>
              </a:solidFill>
            </c:spPr>
          </c:dPt>
          <c:dPt>
            <c:idx val="1"/>
            <c:spPr>
              <a:solidFill xmlns:a="http://schemas.openxmlformats.org/drawingml/2006/main">
                <a:srgbClr val="6B45FF"/>
              </a:solidFill>
            </c:spPr>
          </c:dPt>
          <c:dPt>
            <c:idx val="2"/>
            <c:spPr>
              <a:solidFill xmlns:a="http://schemas.openxmlformats.org/drawingml/2006/main">
                <a:srgbClr val="EF6F35"/>
              </a:solidFill>
            </c:spPr>
          </c:dPt>
          <c:dPt>
            <c:idx val="3"/>
            <c:spPr>
              <a:solidFill xmlns:a="http://schemas.openxmlformats.org/drawingml/2006/main">
                <a:srgbClr val="C8E4ED"/>
              </a:solidFill>
            </c:spPr>
          </c:dPt>
          <c:cat>
            <c:strLit>
              <c:ptCount val="4"/>
              <c:pt idx="0">
                <c:v>Male</c:v>
              </c:pt>
              <c:pt idx="1">
                <c:v>Female</c:v>
              </c:pt>
              <c:pt idx="2">
                <c:v>Non-binary</c:v>
              </c:pt>
              <c:pt idx="3">
                <c:v>Not specified</c:v>
              </c:pt>
            </c:strLit>
          </c:cat>
          <c:val>
            <c:numLit>
              <c:formatCode>General</c:formatCode>
              <c:ptCount val="4"/>
              <c:pt idx="0">
                <c:v>78.3</c:v>
              </c:pt>
              <c:pt idx="1">
                <c:v>18.3</c:v>
              </c:pt>
              <c:pt idx="2">
                <c:v>0.7</c:v>
              </c:pt>
              <c:pt idx="3">
                <c:v>2.7</c:v>
              </c:pt>
            </c:numLit>
          </c:val>
        </c:ser>
        <c:firstSliceAng val="270"/>
        <c:holeSize val="62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A75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f31ea22f24898"/>
          <a:stretch xmlns:a="http://schemas.openxmlformats.org/drawingml/2006/main"/>
        </p:blipFill>
        <p:spPr>
          <a:xfrm xmlns:a="http://schemas.openxmlformats.org/drawingml/2006/main">
            <a:off x="0" y="5"/>
            <a:ext cx="6164485" cy="6857989"/>
          </a:xfrm>
          <a:prstGeom xmlns:a="http://schemas.openxmlformats.org/drawingml/2006/main" prst="rect">
            <a:avLst/>
          </a:prstGeom>
        </p:spPr>
      </p:pic>
      <p:sp>
        <p:nvSpPr>
          <p:cNvPr id="2" name="cover-season-source-typo-mask">
            <a:extLst xmlns:a="http://schemas.openxmlformats.org/drawingml/2006/main">
              <a:ext uri="{FF2B5EF4-FFF2-40B4-BE49-F238E27FC236}">
                <a16:creationId xmlns:a16="http://schemas.microsoft.com/office/drawing/2014/main" id="{0F78C211-7F4B-4F92-A7A1-BF7DC60E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season-corrected">
            <a:extLst xmlns:a="http://schemas.openxmlformats.org/drawingml/2006/main">
              <a:ext uri="{FF2B5EF4-FFF2-40B4-BE49-F238E27FC236}">
                <a16:creationId xmlns:a16="http://schemas.microsoft.com/office/drawing/2014/main" id="{F329B5B4-CE74-4C2D-948C-D0462216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SEASON 11</a:t>
            </a:r>
          </a:p>
        </p:txBody>
      </p:sp>
      <p:sp>
        <p:nvSpPr>
          <p:cNvPr id="4" name="cover-season-corrected-rule">
            <a:extLst xmlns:a="http://schemas.openxmlformats.org/drawingml/2006/main">
              <a:ext uri="{FF2B5EF4-FFF2-40B4-BE49-F238E27FC236}">
                <a16:creationId xmlns:a16="http://schemas.microsoft.com/office/drawing/2014/main" id="{E9EEBF02-2272-4351-B1F0-9DE91173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6F35"/>
            </a:solidFill>
            <a:prstDash val="solid"/>
          </a:ln>
        </p:spPr>
      </p:sp>
      <p:sp>
        <p:nvSpPr>
          <p:cNvPr id="5" name="eyebrow-season-11-sponsorship-deck">
            <a:extLst xmlns:a="http://schemas.openxmlformats.org/drawingml/2006/main">
              <a:ext uri="{FF2B5EF4-FFF2-40B4-BE49-F238E27FC236}">
                <a16:creationId xmlns:a16="http://schemas.microsoft.com/office/drawing/2014/main" id="{1F3D4ADE-AF0D-4A94-BA45-7C654E30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42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SEASON 11 SPONSORSHIP DECK</a:t>
            </a:r>
          </a:p>
        </p:txBody>
      </p:sp>
      <p:sp>
        <p:nvSpPr>
          <p:cNvPr id="6" name="cover-signal-rule">
            <a:extLst xmlns:a="http://schemas.openxmlformats.org/drawingml/2006/main">
              <a:ext uri="{FF2B5EF4-FFF2-40B4-BE49-F238E27FC236}">
                <a16:creationId xmlns:a16="http://schemas.microsoft.com/office/drawing/2014/main" id="{9479D7E4-AE90-45A4-9DDA-D4E5DE20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239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F6F35"/>
            </a:solidFill>
            <a:prstDash val="solid"/>
          </a:ln>
        </p:spPr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0CC82B-6073-460F-BAEE-25FDC14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6685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95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95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Partnership +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95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95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Underwriting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EF5F198-22D7-4F7B-AE67-1B5847B2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Year-round opportunities to support independent avalanche storytelling.</a:t>
            </a:r>
          </a:p>
        </p:txBody>
      </p:sp>
      <p:sp>
        <p:nvSpPr>
          <p:cNvPr id="9" name="cover-cadence">
            <a:extLst xmlns:a="http://schemas.openxmlformats.org/drawingml/2006/main">
              <a:ext uri="{FF2B5EF4-FFF2-40B4-BE49-F238E27FC236}">
                <a16:creationId xmlns:a16="http://schemas.microsoft.com/office/drawing/2014/main" id="{FF8F22BB-3B07-4298-A123-E1BA07EC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38 planned releases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Nearly weekly · selected two-release weeks</a:t>
            </a:r>
          </a:p>
        </p:txBody>
      </p:sp>
      <p:sp>
        <p:nvSpPr>
          <p:cNvPr id="10" name="cover-url">
            <a:extLst xmlns:a="http://schemas.openxmlformats.org/drawingml/2006/main">
              <a:ext uri="{FF2B5EF4-FFF2-40B4-BE49-F238E27FC236}">
                <a16:creationId xmlns:a16="http://schemas.microsoft.com/office/drawing/2014/main" id="{C2C85A92-2C6E-43E0-9F30-74A0A1F3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341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EF6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F6F35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</p:txBody>
      </p:sp>
    </p:spTree>
    <p:extLst>
      <p:ext uri="{BB962C8B-B14F-4D97-AF65-F5344CB8AC3E}">
        <p14:creationId xmlns:p14="http://schemas.microsoft.com/office/powerpoint/2010/main" val="1578975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independent-voices-community-supported">
            <a:extLst xmlns:a="http://schemas.openxmlformats.org/drawingml/2006/main">
              <a:ext uri="{FF2B5EF4-FFF2-40B4-BE49-F238E27FC236}">
                <a16:creationId xmlns:a16="http://schemas.microsoft.com/office/drawing/2014/main" id="{C16F7711-0D2A-4912-989D-AA1F6A6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INDEPENDENT VOICES · COMMUNITY SUPPORTED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95AA7D-A23E-400B-A78B-16FA58E3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30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Stories, knowledge,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0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30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and hard-earned lessons.</a:t>
            </a:r>
          </a:p>
        </p:txBody>
      </p:sp>
      <p:sp>
        <p:nvSpPr>
          <p:cNvPr id="3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B1325FB1-137B-45A4-A9F3-807ED51B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 Avalanche Hour is built around the people, decisions, and lived experience that shape the snow and avalanche community.</a:t>
            </a:r>
          </a:p>
        </p:txBody>
      </p:sp>
      <p:sp>
        <p:nvSpPr>
          <p:cNvPr id="4" name="purpose-cadence-number">
            <a:extLst xmlns:a="http://schemas.openxmlformats.org/drawingml/2006/main">
              <a:ext uri="{FF2B5EF4-FFF2-40B4-BE49-F238E27FC236}">
                <a16:creationId xmlns:a16="http://schemas.microsoft.com/office/drawing/2014/main" id="{AB7A6089-23C9-4FF6-9236-AA021767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286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75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defRPr>
            </a:pPr>
            <a:r>
              <a:rPr sz="375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rPr>
              <a:t>29 + 9</a:t>
            </a:r>
          </a:p>
        </p:txBody>
      </p:sp>
      <p:sp>
        <p:nvSpPr>
          <p:cNvPr id="5" name="purpose-cadence-label">
            <a:extLst xmlns:a="http://schemas.openxmlformats.org/drawingml/2006/main">
              <a:ext uri="{FF2B5EF4-FFF2-40B4-BE49-F238E27FC236}">
                <a16:creationId xmlns:a16="http://schemas.microsoft.com/office/drawing/2014/main" id="{4B1897AE-3664-4D30-AC15-2CCBE70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regular episodes +</a:t>
            </a:r>
          </a:p>
          <a:p xmlns:a="http://schemas.openxmlformats.org/drawingml/2006/main">
            <a:pPr algn="r">
              <a:lnSpc>
                <a:spcPct val="125000"/>
              </a:lnSpc>
              <a:buNone/>
              <a:defRPr sz="120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Slabs ’n Sluffs releases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348cff9f344c8"/>
          <a:stretch xmlns:a="http://schemas.openxmlformats.org/drawingml/2006/main"/>
        </p:blipFill>
        <p:spPr>
          <a:xfrm xmlns:a="http://schemas.openxmlformats.org/drawingml/2006/main">
            <a:off x="1314483" y="2228850"/>
            <a:ext cx="9563034" cy="46301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55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d827ba341409d"/>
          <a:stretch xmlns:a="http://schemas.openxmlformats.org/drawingml/2006/main"/>
        </p:blipFill>
        <p:spPr>
          <a:xfrm xmlns:a="http://schemas.openxmlformats.org/drawingml/2006/main">
            <a:off x="381000" y="0"/>
            <a:ext cx="11430000" cy="3429000"/>
          </a:xfrm>
          <a:prstGeom xmlns:a="http://schemas.openxmlformats.org/drawingml/2006/main" prst="rect">
            <a:avLst/>
          </a:prstGeom>
        </p:spPr>
      </p:pic>
      <p:sp>
        <p:nvSpPr>
          <p:cNvPr id="2" name="reach-title-band">
            <a:extLst xmlns:a="http://schemas.openxmlformats.org/drawingml/2006/main">
              <a:ext uri="{FF2B5EF4-FFF2-40B4-BE49-F238E27FC236}">
                <a16:creationId xmlns:a16="http://schemas.microsoft.com/office/drawing/2014/main" id="{8E83AF09-5C25-40FE-B7D5-EEB763F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audience-reach">
            <a:extLst xmlns:a="http://schemas.openxmlformats.org/drawingml/2006/main">
              <a:ext uri="{FF2B5EF4-FFF2-40B4-BE49-F238E27FC236}">
                <a16:creationId xmlns:a16="http://schemas.microsoft.com/office/drawing/2014/main" id="{6A64A0CB-3EEB-4638-A4DE-C82904A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AUDIENCE REACH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A061D1-D7DD-4842-BF96-007237BD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3225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A decade of listening has built measurable reach.</a:t>
            </a:r>
          </a:p>
        </p:txBody>
      </p:sp>
      <p:sp>
        <p:nvSpPr>
          <p:cNvPr id="5" name="metric-964k-value">
            <a:extLst xmlns:a="http://schemas.openxmlformats.org/drawingml/2006/main">
              <a:ext uri="{FF2B5EF4-FFF2-40B4-BE49-F238E27FC236}">
                <a16:creationId xmlns:a16="http://schemas.microsoft.com/office/drawing/2014/main" id="{AC96B0DF-4263-41AF-AE69-34DB162E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964K</a:t>
            </a:r>
          </a:p>
        </p:txBody>
      </p:sp>
      <p:sp>
        <p:nvSpPr>
          <p:cNvPr id="6" name="metric-964k-label">
            <a:extLst xmlns:a="http://schemas.openxmlformats.org/drawingml/2006/main">
              <a:ext uri="{FF2B5EF4-FFF2-40B4-BE49-F238E27FC236}">
                <a16:creationId xmlns:a16="http://schemas.microsoft.com/office/drawing/2014/main" id="{EE26F3FE-8605-4745-8332-7BE19932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EPISODE PLAYS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SINCE OCTOBER 2016</a:t>
            </a:r>
          </a:p>
        </p:txBody>
      </p:sp>
      <p:sp>
        <p:nvSpPr>
          <p:cNvPr id="7" name="metric-69k-value">
            <a:extLst xmlns:a="http://schemas.openxmlformats.org/drawingml/2006/main">
              <a:ext uri="{FF2B5EF4-FFF2-40B4-BE49-F238E27FC236}">
                <a16:creationId xmlns:a16="http://schemas.microsoft.com/office/drawing/2014/main" id="{FEA2FC05-1E0B-4EB3-89A3-436AD8E6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57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69K</a:t>
            </a:r>
          </a:p>
        </p:txBody>
      </p:sp>
      <p:sp>
        <p:nvSpPr>
          <p:cNvPr id="8" name="metric-69k-label">
            <a:extLst xmlns:a="http://schemas.openxmlformats.org/drawingml/2006/main">
              <a:ext uri="{FF2B5EF4-FFF2-40B4-BE49-F238E27FC236}">
                <a16:creationId xmlns:a16="http://schemas.microsoft.com/office/drawing/2014/main" id="{EFEAA726-2323-4737-93F6-18DBB5ED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29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EPISODE PLAYS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IN THE LAST 12 MONTHS</a:t>
            </a:r>
          </a:p>
        </p:txBody>
      </p:sp>
      <p:sp>
        <p:nvSpPr>
          <p:cNvPr id="9" name="metric-4k-value">
            <a:extLst xmlns:a="http://schemas.openxmlformats.org/drawingml/2006/main">
              <a:ext uri="{FF2B5EF4-FFF2-40B4-BE49-F238E27FC236}">
                <a16:creationId xmlns:a16="http://schemas.microsoft.com/office/drawing/2014/main" id="{26F13971-B83D-4C7E-9A16-1219802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4K</a:t>
            </a:r>
          </a:p>
        </p:txBody>
      </p:sp>
      <p:sp>
        <p:nvSpPr>
          <p:cNvPr id="10" name="metric-4k-label">
            <a:extLst xmlns:a="http://schemas.openxmlformats.org/drawingml/2006/main">
              <a:ext uri="{FF2B5EF4-FFF2-40B4-BE49-F238E27FC236}">
                <a16:creationId xmlns:a16="http://schemas.microsoft.com/office/drawing/2014/main" id="{B5757687-0726-46A6-A610-1B832BD9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PLAYS / DOWNLOADS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PER EPISODE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WITHIN FIRST 3 MONTHS</a:t>
            </a:r>
          </a:p>
        </p:txBody>
      </p:sp>
      <p:sp>
        <p:nvSpPr>
          <p:cNvPr id="11" name="metric-44--value">
            <a:extLst xmlns:a="http://schemas.openxmlformats.org/drawingml/2006/main">
              <a:ext uri="{FF2B5EF4-FFF2-40B4-BE49-F238E27FC236}">
                <a16:creationId xmlns:a16="http://schemas.microsoft.com/office/drawing/2014/main" id="{85CDE5D2-28D8-4682-BBCF-C7C5424C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40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44%</a:t>
            </a:r>
          </a:p>
        </p:txBody>
      </p:sp>
      <p:sp>
        <p:nvSpPr>
          <p:cNvPr id="12" name="metric-44--label">
            <a:extLst xmlns:a="http://schemas.openxmlformats.org/drawingml/2006/main">
              <a:ext uri="{FF2B5EF4-FFF2-40B4-BE49-F238E27FC236}">
                <a16:creationId xmlns:a16="http://schemas.microsoft.com/office/drawing/2014/main" id="{D22DEB44-9EED-4FFE-811A-A383F106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LISTENER-BASE GROWTH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SINCE SEASON 9</a:t>
            </a:r>
          </a:p>
        </p:txBody>
      </p:sp>
      <p:sp>
        <p:nvSpPr>
          <p:cNvPr id="13" name="reach-secondary-metrics">
            <a:extLst xmlns:a="http://schemas.openxmlformats.org/drawingml/2006/main">
              <a:ext uri="{FF2B5EF4-FFF2-40B4-BE49-F238E27FC236}">
                <a16:creationId xmlns:a16="http://schemas.microsoft.com/office/drawing/2014/main" id="{D222B303-A602-4D99-9220-24C774B1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1,500 NEW INSTAGRAM FOLLOWERS IN 12 MONTHS    ·    77K+ ALL-TIME LISTENERS REACHED</a:t>
            </a:r>
          </a:p>
        </p:txBody>
      </p:sp>
      <p:sp>
        <p:nvSpPr>
          <p:cNvPr id="1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16FCBC51-EF44-430C-808E-597E41A0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8CB"/>
            </a:solidFill>
            <a:prstDash val="solid"/>
          </a:ln>
        </p:spPr>
      </p:sp>
      <p:sp>
        <p:nvSpPr>
          <p:cNvPr id="15" name="footer-site-3">
            <a:extLst xmlns:a="http://schemas.openxmlformats.org/drawingml/2006/main">
              <a:ext uri="{FF2B5EF4-FFF2-40B4-BE49-F238E27FC236}">
                <a16:creationId xmlns:a16="http://schemas.microsoft.com/office/drawing/2014/main" id="{E9445358-5DA0-40E0-9457-025E16BD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</p:txBody>
      </p:sp>
      <p:sp>
        <p:nvSpPr>
          <p:cNvPr id="1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DF568880-4023-4CCE-BB7D-CC46B160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1022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-audience-snapshot">
            <a:extLst xmlns:a="http://schemas.openxmlformats.org/drawingml/2006/main">
              <a:ext uri="{FF2B5EF4-FFF2-40B4-BE49-F238E27FC236}">
                <a16:creationId xmlns:a16="http://schemas.microsoft.com/office/drawing/2014/main" id="{AE981B45-4CBD-495E-8A27-5A178B07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AUDIENCE SNAPSHOT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3B4918-C732-4B0B-9364-230C8D5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1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The audience is established—and the show is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1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1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broadening who gets heard.</a:t>
            </a:r>
          </a:p>
        </p:txBody>
      </p:sp>
      <p:sp>
        <p:nvSpPr>
          <p:cNvPr id="3" name="demographics-intro">
            <a:extLst xmlns:a="http://schemas.openxmlformats.org/drawingml/2006/main">
              <a:ext uri="{FF2B5EF4-FFF2-40B4-BE49-F238E27FC236}">
                <a16:creationId xmlns:a16="http://schemas.microsoft.com/office/drawing/2014/main" id="{A502A857-6674-43C0-BE9A-F657AED6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Current reporting still skews male. The host team, guests, and stories are intentionally expanding representation across the industry.</a:t>
            </a:r>
          </a:p>
        </p:txBody>
      </p:sp>
      <p:sp>
        <p:nvSpPr>
          <p:cNvPr id="4" name="gender-chart-label">
            <a:extLst xmlns:a="http://schemas.openxmlformats.org/drawingml/2006/main">
              <a:ext uri="{FF2B5EF4-FFF2-40B4-BE49-F238E27FC236}">
                <a16:creationId xmlns:a16="http://schemas.microsoft.com/office/drawing/2014/main" id="{D08B003F-9942-49AF-B779-25A2888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GENDER REPORTING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514350" y="2400300"/>
          <a:ext xmlns:a="http://schemas.openxmlformats.org/drawingml/2006/main" cx="3905250" cy="3009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1813e31e834ae5"/>
          </a:graphicData>
        </a:graphic>
      </p:graphicFrame>
      <p:sp>
        <p:nvSpPr>
          <p:cNvPr id="6" name="gender-center-label">
            <a:extLst xmlns:a="http://schemas.openxmlformats.org/drawingml/2006/main">
              <a:ext uri="{FF2B5EF4-FFF2-40B4-BE49-F238E27FC236}">
                <a16:creationId xmlns:a16="http://schemas.microsoft.com/office/drawing/2014/main" id="{AC50450B-E0A6-48B3-9005-D471DA62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57550"/>
            <a:ext cx="175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0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0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78.3%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0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0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MALE</a:t>
            </a:r>
          </a:p>
        </p:txBody>
      </p:sp>
      <p:sp>
        <p:nvSpPr>
          <p:cNvPr id="7" name="gender-minority-breakout">
            <a:extLst xmlns:a="http://schemas.openxmlformats.org/drawingml/2006/main">
              <a:ext uri="{FF2B5EF4-FFF2-40B4-BE49-F238E27FC236}">
                <a16:creationId xmlns:a16="http://schemas.microsoft.com/office/drawing/2014/main" id="{1A2BAE12-9C0F-4227-850A-0A7EF3B7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FEMALE 18.3%  ·  NON-BINARY 0.7%  ·  NOT SPECIFIED 2.7%</a:t>
            </a:r>
          </a:p>
        </p:txBody>
      </p:sp>
      <p:sp>
        <p:nvSpPr>
          <p:cNvPr id="8" name="age-chart-label">
            <a:extLst xmlns:a="http://schemas.openxmlformats.org/drawingml/2006/main">
              <a:ext uri="{FF2B5EF4-FFF2-40B4-BE49-F238E27FC236}">
                <a16:creationId xmlns:a16="http://schemas.microsoft.com/office/drawing/2014/main" id="{71CD9D00-CEAB-46D4-877F-EAEB5AD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AGE DISTRIBUTION</a:t>
            </a:r>
          </a:p>
        </p:txBody>
      </p:sp>
      <p:sp>
        <p:nvSpPr>
          <p:cNvPr id="9" name="age-grid-0">
            <a:extLst xmlns:a="http://schemas.openxmlformats.org/drawingml/2006/main">
              <a:ext uri="{FF2B5EF4-FFF2-40B4-BE49-F238E27FC236}">
                <a16:creationId xmlns:a16="http://schemas.microsoft.com/office/drawing/2014/main" id="{71D9E583-209F-48DF-BFC7-5FFE7DBA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292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CC1"/>
            </a:solidFill>
            <a:prstDash val="solid"/>
          </a:ln>
        </p:spPr>
      </p:sp>
      <p:sp>
        <p:nvSpPr>
          <p:cNvPr id="10" name="age-y-label-0">
            <a:extLst xmlns:a="http://schemas.openxmlformats.org/drawingml/2006/main">
              <a:ext uri="{FF2B5EF4-FFF2-40B4-BE49-F238E27FC236}">
                <a16:creationId xmlns:a16="http://schemas.microsoft.com/office/drawing/2014/main" id="{2EFF75CB-9E39-48EA-BAC4-3C31B437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530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11" name="age-grid-10">
            <a:extLst xmlns:a="http://schemas.openxmlformats.org/drawingml/2006/main">
              <a:ext uri="{FF2B5EF4-FFF2-40B4-BE49-F238E27FC236}">
                <a16:creationId xmlns:a16="http://schemas.microsoft.com/office/drawing/2014/main" id="{9630DD89-1780-4BA7-ABCB-8F031F7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14838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2" name="age-y-label-10">
            <a:extLst xmlns:a="http://schemas.openxmlformats.org/drawingml/2006/main">
              <a:ext uri="{FF2B5EF4-FFF2-40B4-BE49-F238E27FC236}">
                <a16:creationId xmlns:a16="http://schemas.microsoft.com/office/drawing/2014/main" id="{7DF1C52F-72A2-4A70-AB17-9072B7F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38638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10%</a:t>
            </a:r>
          </a:p>
        </p:txBody>
      </p:sp>
      <p:sp>
        <p:nvSpPr>
          <p:cNvPr id="13" name="age-grid-20">
            <a:extLst xmlns:a="http://schemas.openxmlformats.org/drawingml/2006/main">
              <a:ext uri="{FF2B5EF4-FFF2-40B4-BE49-F238E27FC236}">
                <a16:creationId xmlns:a16="http://schemas.microsoft.com/office/drawing/2014/main" id="{403BE24D-EA23-44D8-90D6-4896CE44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0047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age-y-label-20">
            <a:extLst xmlns:a="http://schemas.openxmlformats.org/drawingml/2006/main">
              <a:ext uri="{FF2B5EF4-FFF2-40B4-BE49-F238E27FC236}">
                <a16:creationId xmlns:a16="http://schemas.microsoft.com/office/drawing/2014/main" id="{41930F14-85AA-4B11-A80E-333CDA91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24275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age-grid-30">
            <a:extLst xmlns:a="http://schemas.openxmlformats.org/drawingml/2006/main">
              <a:ext uri="{FF2B5EF4-FFF2-40B4-BE49-F238E27FC236}">
                <a16:creationId xmlns:a16="http://schemas.microsoft.com/office/drawing/2014/main" id="{A03320D3-409B-4372-9255-383E7FD1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86113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age-y-label-30">
            <a:extLst xmlns:a="http://schemas.openxmlformats.org/drawingml/2006/main">
              <a:ext uri="{FF2B5EF4-FFF2-40B4-BE49-F238E27FC236}">
                <a16:creationId xmlns:a16="http://schemas.microsoft.com/office/drawing/2014/main" id="{2037B9A9-DF81-424B-9F24-8167F39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9913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7" name="age-grid-40">
            <a:extLst xmlns:a="http://schemas.openxmlformats.org/drawingml/2006/main">
              <a:ext uri="{FF2B5EF4-FFF2-40B4-BE49-F238E27FC236}">
                <a16:creationId xmlns:a16="http://schemas.microsoft.com/office/drawing/2014/main" id="{95379C70-06B3-4674-8E97-486B32DA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age-y-label-40">
            <a:extLst xmlns:a="http://schemas.openxmlformats.org/drawingml/2006/main">
              <a:ext uri="{FF2B5EF4-FFF2-40B4-BE49-F238E27FC236}">
                <a16:creationId xmlns:a16="http://schemas.microsoft.com/office/drawing/2014/main" id="{FF09AE85-BE15-4A78-837C-F3D691A3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955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9" name="age-bar-0">
            <a:extLst xmlns:a="http://schemas.openxmlformats.org/drawingml/2006/main">
              <a:ext uri="{FF2B5EF4-FFF2-40B4-BE49-F238E27FC236}">
                <a16:creationId xmlns:a16="http://schemas.microsoft.com/office/drawing/2014/main" id="{32FCE598-4352-4E9C-A566-A8F9093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569" y="5014913"/>
            <a:ext cx="514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ge-value-0">
            <a:extLst xmlns:a="http://schemas.openxmlformats.org/drawingml/2006/main">
              <a:ext uri="{FF2B5EF4-FFF2-40B4-BE49-F238E27FC236}">
                <a16:creationId xmlns:a16="http://schemas.microsoft.com/office/drawing/2014/main" id="{9E18E6B4-EE1D-4B09-B100-01924C1D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369" y="4824413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0.1%</a:t>
            </a:r>
          </a:p>
        </p:txBody>
      </p:sp>
      <p:sp>
        <p:nvSpPr>
          <p:cNvPr id="21" name="age-category-0">
            <a:extLst xmlns:a="http://schemas.openxmlformats.org/drawingml/2006/main">
              <a:ext uri="{FF2B5EF4-FFF2-40B4-BE49-F238E27FC236}">
                <a16:creationId xmlns:a16="http://schemas.microsoft.com/office/drawing/2014/main" id="{742B1682-BCE6-4DDC-917F-5A9399F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0–17</a:t>
            </a:r>
          </a:p>
        </p:txBody>
      </p:sp>
      <p:sp>
        <p:nvSpPr>
          <p:cNvPr id="22" name="age-bar-1">
            <a:extLst xmlns:a="http://schemas.openxmlformats.org/drawingml/2006/main">
              <a:ext uri="{FF2B5EF4-FFF2-40B4-BE49-F238E27FC236}">
                <a16:creationId xmlns:a16="http://schemas.microsoft.com/office/drawing/2014/main" id="{C57DABDF-D21E-4CB2-904F-8D0B465E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756" y="4912471"/>
            <a:ext cx="514350" cy="1167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-value-1">
            <a:extLst xmlns:a="http://schemas.openxmlformats.org/drawingml/2006/main">
              <a:ext uri="{FF2B5EF4-FFF2-40B4-BE49-F238E27FC236}">
                <a16:creationId xmlns:a16="http://schemas.microsoft.com/office/drawing/2014/main" id="{B29BAFB1-C121-4F63-81A7-B51DB07F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556" y="4721971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1.9%</a:t>
            </a:r>
          </a:p>
        </p:txBody>
      </p:sp>
      <p:sp>
        <p:nvSpPr>
          <p:cNvPr id="24" name="age-category-1">
            <a:extLst xmlns:a="http://schemas.openxmlformats.org/drawingml/2006/main">
              <a:ext uri="{FF2B5EF4-FFF2-40B4-BE49-F238E27FC236}">
                <a16:creationId xmlns:a16="http://schemas.microsoft.com/office/drawing/2014/main" id="{7ECDF0D6-44ED-452E-9347-3D705A18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18–22</a:t>
            </a:r>
          </a:p>
        </p:txBody>
      </p:sp>
      <p:sp>
        <p:nvSpPr>
          <p:cNvPr id="25" name="age-bar-2">
            <a:extLst xmlns:a="http://schemas.openxmlformats.org/drawingml/2006/main">
              <a:ext uri="{FF2B5EF4-FFF2-40B4-BE49-F238E27FC236}">
                <a16:creationId xmlns:a16="http://schemas.microsoft.com/office/drawing/2014/main" id="{FC2C1822-F501-43FC-A6E5-920E0DA5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944" y="4316540"/>
            <a:ext cx="514350" cy="712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ge-value-2">
            <a:extLst xmlns:a="http://schemas.openxmlformats.org/drawingml/2006/main">
              <a:ext uri="{FF2B5EF4-FFF2-40B4-BE49-F238E27FC236}">
                <a16:creationId xmlns:a16="http://schemas.microsoft.com/office/drawing/2014/main" id="{C51CBF49-8201-437F-87BA-C98BFF7B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744" y="412604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11.6%</a:t>
            </a:r>
          </a:p>
        </p:txBody>
      </p:sp>
      <p:sp>
        <p:nvSpPr>
          <p:cNvPr id="27" name="age-category-2">
            <a:extLst xmlns:a="http://schemas.openxmlformats.org/drawingml/2006/main">
              <a:ext uri="{FF2B5EF4-FFF2-40B4-BE49-F238E27FC236}">
                <a16:creationId xmlns:a16="http://schemas.microsoft.com/office/drawing/2014/main" id="{41A4F754-4283-4265-925D-3753FB5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23–27</a:t>
            </a:r>
          </a:p>
        </p:txBody>
      </p:sp>
      <p:sp>
        <p:nvSpPr>
          <p:cNvPr id="28" name="age-bar-3">
            <a:extLst xmlns:a="http://schemas.openxmlformats.org/drawingml/2006/main">
              <a:ext uri="{FF2B5EF4-FFF2-40B4-BE49-F238E27FC236}">
                <a16:creationId xmlns:a16="http://schemas.microsoft.com/office/drawing/2014/main" id="{03DF7104-AA0C-4098-8B74-90A0EB8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131" y="2946511"/>
            <a:ext cx="514350" cy="20826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ge-value-3">
            <a:extLst xmlns:a="http://schemas.openxmlformats.org/drawingml/2006/main">
              <a:ext uri="{FF2B5EF4-FFF2-40B4-BE49-F238E27FC236}">
                <a16:creationId xmlns:a16="http://schemas.microsoft.com/office/drawing/2014/main" id="{6B78A9C5-81CE-4E02-9A78-22DFDD5B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931" y="2756011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33.9%</a:t>
            </a:r>
          </a:p>
        </p:txBody>
      </p:sp>
      <p:sp>
        <p:nvSpPr>
          <p:cNvPr id="30" name="age-category-3">
            <a:extLst xmlns:a="http://schemas.openxmlformats.org/drawingml/2006/main">
              <a:ext uri="{FF2B5EF4-FFF2-40B4-BE49-F238E27FC236}">
                <a16:creationId xmlns:a16="http://schemas.microsoft.com/office/drawing/2014/main" id="{C4EBCEA8-EE62-47E9-8F71-86E084B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28–34</a:t>
            </a:r>
          </a:p>
        </p:txBody>
      </p:sp>
      <p:sp>
        <p:nvSpPr>
          <p:cNvPr id="31" name="age-bar-4">
            <a:extLst xmlns:a="http://schemas.openxmlformats.org/drawingml/2006/main">
              <a:ext uri="{FF2B5EF4-FFF2-40B4-BE49-F238E27FC236}">
                <a16:creationId xmlns:a16="http://schemas.microsoft.com/office/drawing/2014/main" id="{DACF7B54-BCE8-48C8-B992-96593F6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319" y="3136964"/>
            <a:ext cx="514350" cy="18922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ge-value-4">
            <a:extLst xmlns:a="http://schemas.openxmlformats.org/drawingml/2006/main">
              <a:ext uri="{FF2B5EF4-FFF2-40B4-BE49-F238E27FC236}">
                <a16:creationId xmlns:a16="http://schemas.microsoft.com/office/drawing/2014/main" id="{FF1C1E81-6C5F-4650-A6E6-C38A035D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119" y="2946464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30.8%</a:t>
            </a:r>
          </a:p>
        </p:txBody>
      </p:sp>
      <p:sp>
        <p:nvSpPr>
          <p:cNvPr id="33" name="age-category-4">
            <a:extLst xmlns:a="http://schemas.openxmlformats.org/drawingml/2006/main">
              <a:ext uri="{FF2B5EF4-FFF2-40B4-BE49-F238E27FC236}">
                <a16:creationId xmlns:a16="http://schemas.microsoft.com/office/drawing/2014/main" id="{4CE8CD4F-FFEC-45FE-9A7B-9AA1F5B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35–44</a:t>
            </a:r>
          </a:p>
        </p:txBody>
      </p:sp>
      <p:sp>
        <p:nvSpPr>
          <p:cNvPr id="34" name="age-bar-5">
            <a:extLst xmlns:a="http://schemas.openxmlformats.org/drawingml/2006/main">
              <a:ext uri="{FF2B5EF4-FFF2-40B4-BE49-F238E27FC236}">
                <a16:creationId xmlns:a16="http://schemas.microsoft.com/office/drawing/2014/main" id="{134BF197-8ED9-438D-B336-096CBA3E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506" y="4058507"/>
            <a:ext cx="514350" cy="9706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ge-value-5">
            <a:extLst xmlns:a="http://schemas.openxmlformats.org/drawingml/2006/main">
              <a:ext uri="{FF2B5EF4-FFF2-40B4-BE49-F238E27FC236}">
                <a16:creationId xmlns:a16="http://schemas.microsoft.com/office/drawing/2014/main" id="{290B7B88-0A80-40F1-A71D-7A751B93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7306" y="3868007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15.8%</a:t>
            </a:r>
          </a:p>
        </p:txBody>
      </p:sp>
      <p:sp>
        <p:nvSpPr>
          <p:cNvPr id="36" name="age-category-5">
            <a:extLst xmlns:a="http://schemas.openxmlformats.org/drawingml/2006/main">
              <a:ext uri="{FF2B5EF4-FFF2-40B4-BE49-F238E27FC236}">
                <a16:creationId xmlns:a16="http://schemas.microsoft.com/office/drawing/2014/main" id="{B7403FD8-6923-4D11-BA56-218A417B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45–59</a:t>
            </a:r>
          </a:p>
        </p:txBody>
      </p:sp>
      <p:sp>
        <p:nvSpPr>
          <p:cNvPr id="37" name="age-bar-6">
            <a:extLst xmlns:a="http://schemas.openxmlformats.org/drawingml/2006/main">
              <a:ext uri="{FF2B5EF4-FFF2-40B4-BE49-F238E27FC236}">
                <a16:creationId xmlns:a16="http://schemas.microsoft.com/office/drawing/2014/main" id="{86A85C7E-43AF-4247-B373-A4274E9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694" y="4672870"/>
            <a:ext cx="514350" cy="356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ge-value-6">
            <a:extLst xmlns:a="http://schemas.openxmlformats.org/drawingml/2006/main">
              <a:ext uri="{FF2B5EF4-FFF2-40B4-BE49-F238E27FC236}">
                <a16:creationId xmlns:a16="http://schemas.microsoft.com/office/drawing/2014/main" id="{00851A31-D30A-4335-9757-65217D98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494" y="448237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5.8%</a:t>
            </a:r>
          </a:p>
        </p:txBody>
      </p:sp>
      <p:sp>
        <p:nvSpPr>
          <p:cNvPr id="39" name="age-category-6">
            <a:extLst xmlns:a="http://schemas.openxmlformats.org/drawingml/2006/main">
              <a:ext uri="{FF2B5EF4-FFF2-40B4-BE49-F238E27FC236}">
                <a16:creationId xmlns:a16="http://schemas.microsoft.com/office/drawing/2014/main" id="{C588532D-6C5C-45DF-873C-9993A3F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60+</a:t>
            </a:r>
          </a:p>
        </p:txBody>
      </p:sp>
      <p:sp>
        <p:nvSpPr>
          <p:cNvPr id="40" name="age-bar-7">
            <a:extLst xmlns:a="http://schemas.openxmlformats.org/drawingml/2006/main">
              <a:ext uri="{FF2B5EF4-FFF2-40B4-BE49-F238E27FC236}">
                <a16:creationId xmlns:a16="http://schemas.microsoft.com/office/drawing/2014/main" id="{2E51DB31-A0C4-4D95-B581-A058E55D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881" y="5014913"/>
            <a:ext cx="514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ge-value-7">
            <a:extLst xmlns:a="http://schemas.openxmlformats.org/drawingml/2006/main">
              <a:ext uri="{FF2B5EF4-FFF2-40B4-BE49-F238E27FC236}">
                <a16:creationId xmlns:a16="http://schemas.microsoft.com/office/drawing/2014/main" id="{738C197A-8521-4649-8E88-AC351584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681" y="4824413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0%</a:t>
            </a:r>
          </a:p>
        </p:txBody>
      </p:sp>
      <p:sp>
        <p:nvSpPr>
          <p:cNvPr id="42" name="age-category-7">
            <a:extLst xmlns:a="http://schemas.openxmlformats.org/drawingml/2006/main">
              <a:ext uri="{FF2B5EF4-FFF2-40B4-BE49-F238E27FC236}">
                <a16:creationId xmlns:a16="http://schemas.microsoft.com/office/drawing/2014/main" id="{2B6B902E-AC0C-47EE-BBB6-07891877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963" y="5105400"/>
            <a:ext cx="73818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Unknown</a:t>
            </a:r>
          </a:p>
        </p:txBody>
      </p:sp>
      <p:sp>
        <p:nvSpPr>
          <p:cNvPr id="43" name="demographics-insight">
            <a:extLst xmlns:a="http://schemas.openxmlformats.org/drawingml/2006/main">
              <a:ext uri="{FF2B5EF4-FFF2-40B4-BE49-F238E27FC236}">
                <a16:creationId xmlns:a16="http://schemas.microsoft.com/office/drawing/2014/main" id="{8C6A7F51-BB66-4583-9B74-BB1F11EF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64.7% of reported listeners are 28–44. The opportunity is to keep that core while widening who sees themselves in the conversation.</a:t>
            </a:r>
          </a:p>
        </p:txBody>
      </p:sp>
      <p:sp>
        <p:nvSpPr>
          <p:cNvPr id="4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72E4C28-6A4E-431E-B223-54062196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8CB"/>
            </a:solidFill>
            <a:prstDash val="solid"/>
          </a:ln>
        </p:spPr>
      </p:sp>
      <p:sp>
        <p:nvSpPr>
          <p:cNvPr id="45" name="footer-site-4">
            <a:extLst xmlns:a="http://schemas.openxmlformats.org/drawingml/2006/main">
              <a:ext uri="{FF2B5EF4-FFF2-40B4-BE49-F238E27FC236}">
                <a16:creationId xmlns:a16="http://schemas.microsoft.com/office/drawing/2014/main" id="{F36FD7CB-6B1B-471B-912D-2E87A48B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</p:txBody>
      </p:sp>
      <p:sp>
        <p:nvSpPr>
          <p:cNvPr id="4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50F2B68-2DCF-4A0A-93B0-740BEE43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1977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the-people-behind-the-signal">
            <a:extLst xmlns:a="http://schemas.openxmlformats.org/drawingml/2006/main">
              <a:ext uri="{FF2B5EF4-FFF2-40B4-BE49-F238E27FC236}">
                <a16:creationId xmlns:a16="http://schemas.microsoft.com/office/drawing/2014/main" id="{EFC68CEF-A8EE-407B-8864-7C0E0BD3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THE PEOPLE BEHIND THE SIGNAL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362F67-E127-4A16-9BD9-9A3D13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3225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A 17-person host team brings field-earned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225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3225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perspective.</a:t>
            </a:r>
          </a:p>
        </p:txBody>
      </p:sp>
      <p:sp>
        <p:nvSpPr>
          <p:cNvPr id="3" name="hosts-subtitle">
            <a:extLst xmlns:a="http://schemas.openxmlformats.org/drawingml/2006/main">
              <a:ext uri="{FF2B5EF4-FFF2-40B4-BE49-F238E27FC236}">
                <a16:creationId xmlns:a16="http://schemas.microsoft.com/office/drawing/2014/main" id="{15A46C91-5D25-46EA-BC6E-933D27C6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Different regions, disciplines, and lived experience—held together by curiosity and a respect for the work.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77f309ce24305"/>
          <a:stretch xmlns:a="http://schemas.openxmlformats.org/drawingml/2006/main"/>
        </p:blipFill>
        <p:spPr>
          <a:xfrm xmlns:a="http://schemas.openxmlformats.org/drawingml/2006/main">
            <a:off x="381000" y="2057400"/>
            <a:ext cx="6667500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host-left-1">
            <a:extLst xmlns:a="http://schemas.openxmlformats.org/drawingml/2006/main">
              <a:ext uri="{FF2B5EF4-FFF2-40B4-BE49-F238E27FC236}">
                <a16:creationId xmlns:a16="http://schemas.microsoft.com/office/drawing/2014/main" id="{81D093FC-360E-42D6-8D89-20AD2E2A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DOM BAKER</a:t>
            </a:r>
          </a:p>
        </p:txBody>
      </p:sp>
      <p:sp>
        <p:nvSpPr>
          <p:cNvPr id="6" name="host-left-1-divider">
            <a:extLst xmlns:a="http://schemas.openxmlformats.org/drawingml/2006/main">
              <a:ext uri="{FF2B5EF4-FFF2-40B4-BE49-F238E27FC236}">
                <a16:creationId xmlns:a16="http://schemas.microsoft.com/office/drawing/2014/main" id="{E7862DF2-1E04-407A-899D-0434F4B5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2267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7" name="host-left-2">
            <a:extLst xmlns:a="http://schemas.openxmlformats.org/drawingml/2006/main">
              <a:ext uri="{FF2B5EF4-FFF2-40B4-BE49-F238E27FC236}">
                <a16:creationId xmlns:a16="http://schemas.microsoft.com/office/drawing/2014/main" id="{9D4DD223-43F3-41A7-9B9B-690D12F4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10367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DR. BRUCE JAMIESON</a:t>
            </a:r>
          </a:p>
        </p:txBody>
      </p:sp>
      <p:sp>
        <p:nvSpPr>
          <p:cNvPr id="8" name="host-left-2-divider">
            <a:extLst xmlns:a="http://schemas.openxmlformats.org/drawingml/2006/main">
              <a:ext uri="{FF2B5EF4-FFF2-40B4-BE49-F238E27FC236}">
                <a16:creationId xmlns:a16="http://schemas.microsoft.com/office/drawing/2014/main" id="{7E57B5B3-0E1E-4B1A-AA89-CF5A4F35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87133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9" name="host-left-3">
            <a:extLst xmlns:a="http://schemas.openxmlformats.org/drawingml/2006/main">
              <a:ext uri="{FF2B5EF4-FFF2-40B4-BE49-F238E27FC236}">
                <a16:creationId xmlns:a16="http://schemas.microsoft.com/office/drawing/2014/main" id="{127BC452-E595-4D10-970E-9AE34FE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25233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KIM VINET</a:t>
            </a:r>
          </a:p>
        </p:txBody>
      </p:sp>
      <p:sp>
        <p:nvSpPr>
          <p:cNvPr id="10" name="host-left-3-divider">
            <a:extLst xmlns:a="http://schemas.openxmlformats.org/drawingml/2006/main">
              <a:ext uri="{FF2B5EF4-FFF2-40B4-BE49-F238E27FC236}">
                <a16:creationId xmlns:a16="http://schemas.microsoft.com/office/drawing/2014/main" id="{D5A205E7-085D-4333-8746-CBC77F5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20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11" name="host-left-4">
            <a:extLst xmlns:a="http://schemas.openxmlformats.org/drawingml/2006/main">
              <a:ext uri="{FF2B5EF4-FFF2-40B4-BE49-F238E27FC236}">
                <a16:creationId xmlns:a16="http://schemas.microsoft.com/office/drawing/2014/main" id="{E92A39C5-D435-4F91-A15B-2AC07A2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40100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MORGAN DINSDALE</a:t>
            </a:r>
          </a:p>
        </p:txBody>
      </p:sp>
      <p:sp>
        <p:nvSpPr>
          <p:cNvPr id="12" name="host-left-4-divider">
            <a:extLst xmlns:a="http://schemas.openxmlformats.org/drawingml/2006/main">
              <a:ext uri="{FF2B5EF4-FFF2-40B4-BE49-F238E27FC236}">
                <a16:creationId xmlns:a16="http://schemas.microsoft.com/office/drawing/2014/main" id="{517293DF-BE9B-47BB-8F1A-1C893EEA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16867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13" name="host-left-5">
            <a:extLst xmlns:a="http://schemas.openxmlformats.org/drawingml/2006/main">
              <a:ext uri="{FF2B5EF4-FFF2-40B4-BE49-F238E27FC236}">
                <a16:creationId xmlns:a16="http://schemas.microsoft.com/office/drawing/2014/main" id="{F4CE5BDA-4948-42F7-8778-AF41BB59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54967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NIKKI CHAMPION</a:t>
            </a:r>
          </a:p>
        </p:txBody>
      </p:sp>
      <p:sp>
        <p:nvSpPr>
          <p:cNvPr id="14" name="host-left-5-divider">
            <a:extLst xmlns:a="http://schemas.openxmlformats.org/drawingml/2006/main">
              <a:ext uri="{FF2B5EF4-FFF2-40B4-BE49-F238E27FC236}">
                <a16:creationId xmlns:a16="http://schemas.microsoft.com/office/drawing/2014/main" id="{FEE4B76F-F954-4A67-B603-72926A4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31733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15" name="host-left-6">
            <a:extLst xmlns:a="http://schemas.openxmlformats.org/drawingml/2006/main">
              <a:ext uri="{FF2B5EF4-FFF2-40B4-BE49-F238E27FC236}">
                <a16:creationId xmlns:a16="http://schemas.microsoft.com/office/drawing/2014/main" id="{DA58A6A7-BE00-4B10-BCEA-AA04D372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69833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MATTHIAS WALCHER</a:t>
            </a:r>
          </a:p>
        </p:txBody>
      </p:sp>
      <p:sp>
        <p:nvSpPr>
          <p:cNvPr id="16" name="host-left-6-divider">
            <a:extLst xmlns:a="http://schemas.openxmlformats.org/drawingml/2006/main">
              <a:ext uri="{FF2B5EF4-FFF2-40B4-BE49-F238E27FC236}">
                <a16:creationId xmlns:a16="http://schemas.microsoft.com/office/drawing/2014/main" id="{D79AF186-5A80-4CAE-9019-CB3AAAC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46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17" name="host-left-7">
            <a:extLst xmlns:a="http://schemas.openxmlformats.org/drawingml/2006/main">
              <a:ext uri="{FF2B5EF4-FFF2-40B4-BE49-F238E27FC236}">
                <a16:creationId xmlns:a16="http://schemas.microsoft.com/office/drawing/2014/main" id="{176F6A5F-12DD-42A1-9975-5DE8CDC4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84700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ANNA HEUBERGER</a:t>
            </a:r>
          </a:p>
        </p:txBody>
      </p:sp>
      <p:sp>
        <p:nvSpPr>
          <p:cNvPr id="18" name="host-left-7-divider">
            <a:extLst xmlns:a="http://schemas.openxmlformats.org/drawingml/2006/main">
              <a:ext uri="{FF2B5EF4-FFF2-40B4-BE49-F238E27FC236}">
                <a16:creationId xmlns:a16="http://schemas.microsoft.com/office/drawing/2014/main" id="{5C20474D-846F-4E8B-858A-5B7769B0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61467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19" name="host-left-8">
            <a:extLst xmlns:a="http://schemas.openxmlformats.org/drawingml/2006/main">
              <a:ext uri="{FF2B5EF4-FFF2-40B4-BE49-F238E27FC236}">
                <a16:creationId xmlns:a16="http://schemas.microsoft.com/office/drawing/2014/main" id="{1D4969E6-ED56-46FE-A203-459E956B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99567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GABRIELLE ANTONIOLI</a:t>
            </a:r>
          </a:p>
        </p:txBody>
      </p:sp>
      <p:sp>
        <p:nvSpPr>
          <p:cNvPr id="20" name="host-left-8-divider">
            <a:extLst xmlns:a="http://schemas.openxmlformats.org/drawingml/2006/main">
              <a:ext uri="{FF2B5EF4-FFF2-40B4-BE49-F238E27FC236}">
                <a16:creationId xmlns:a16="http://schemas.microsoft.com/office/drawing/2014/main" id="{D0024891-1D02-412F-845A-8D312EDF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376333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21" name="host-left-9">
            <a:extLst xmlns:a="http://schemas.openxmlformats.org/drawingml/2006/main">
              <a:ext uri="{FF2B5EF4-FFF2-40B4-BE49-F238E27FC236}">
                <a16:creationId xmlns:a16="http://schemas.microsoft.com/office/drawing/2014/main" id="{01FC8F75-A041-4D7E-9D49-EBAA5B1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14433"/>
            <a:ext cx="2286000" cy="338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SEAN ZIMMERMAN-WALL</a:t>
            </a:r>
          </a:p>
        </p:txBody>
      </p:sp>
      <p:sp>
        <p:nvSpPr>
          <p:cNvPr id="22" name="host-right-1">
            <a:extLst xmlns:a="http://schemas.openxmlformats.org/drawingml/2006/main">
              <a:ext uri="{FF2B5EF4-FFF2-40B4-BE49-F238E27FC236}">
                <a16:creationId xmlns:a16="http://schemas.microsoft.com/office/drawing/2014/main" id="{C6CEEAE2-4652-4C7A-AA78-8B76BE61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DR. SARA BOILEN</a:t>
            </a:r>
          </a:p>
        </p:txBody>
      </p:sp>
      <p:sp>
        <p:nvSpPr>
          <p:cNvPr id="23" name="host-right-1-divider">
            <a:extLst xmlns:a="http://schemas.openxmlformats.org/drawingml/2006/main">
              <a:ext uri="{FF2B5EF4-FFF2-40B4-BE49-F238E27FC236}">
                <a16:creationId xmlns:a16="http://schemas.microsoft.com/office/drawing/2014/main" id="{E9BD6637-FC48-4124-86E5-63D42BC9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4125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24" name="host-right-2">
            <a:extLst xmlns:a="http://schemas.openxmlformats.org/drawingml/2006/main">
              <a:ext uri="{FF2B5EF4-FFF2-40B4-BE49-F238E27FC236}">
                <a16:creationId xmlns:a16="http://schemas.microsoft.com/office/drawing/2014/main" id="{405DF6EF-5565-4261-8A5C-95DECD7C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62225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DALLAS GLASS</a:t>
            </a:r>
          </a:p>
        </p:txBody>
      </p:sp>
      <p:sp>
        <p:nvSpPr>
          <p:cNvPr id="25" name="host-right-2-divider">
            <a:extLst xmlns:a="http://schemas.openxmlformats.org/drawingml/2006/main">
              <a:ext uri="{FF2B5EF4-FFF2-40B4-BE49-F238E27FC236}">
                <a16:creationId xmlns:a16="http://schemas.microsoft.com/office/drawing/2014/main" id="{41E3C01A-58A4-4203-BDA7-841553B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908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26" name="host-right-3">
            <a:extLst xmlns:a="http://schemas.openxmlformats.org/drawingml/2006/main">
              <a:ext uri="{FF2B5EF4-FFF2-40B4-BE49-F238E27FC236}">
                <a16:creationId xmlns:a16="http://schemas.microsoft.com/office/drawing/2014/main" id="{8CE4B5F0-2515-46EA-96FF-789EEB18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JAKE HUTCHINSON</a:t>
            </a:r>
          </a:p>
        </p:txBody>
      </p:sp>
      <p:sp>
        <p:nvSpPr>
          <p:cNvPr id="27" name="host-right-3-divider">
            <a:extLst xmlns:a="http://schemas.openxmlformats.org/drawingml/2006/main">
              <a:ext uri="{FF2B5EF4-FFF2-40B4-BE49-F238E27FC236}">
                <a16:creationId xmlns:a16="http://schemas.microsoft.com/office/drawing/2014/main" id="{699D8E57-EDDE-405E-9D25-D284669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57575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28" name="host-right-4">
            <a:extLst xmlns:a="http://schemas.openxmlformats.org/drawingml/2006/main">
              <a:ext uri="{FF2B5EF4-FFF2-40B4-BE49-F238E27FC236}">
                <a16:creationId xmlns:a16="http://schemas.microsoft.com/office/drawing/2014/main" id="{45C9D898-9A7B-4126-A1EC-385FC3AF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95675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SIERRA BISHOP</a:t>
            </a:r>
          </a:p>
        </p:txBody>
      </p:sp>
      <p:sp>
        <p:nvSpPr>
          <p:cNvPr id="29" name="host-right-4-divider">
            <a:extLst xmlns:a="http://schemas.openxmlformats.org/drawingml/2006/main">
              <a:ext uri="{FF2B5EF4-FFF2-40B4-BE49-F238E27FC236}">
                <a16:creationId xmlns:a16="http://schemas.microsoft.com/office/drawing/2014/main" id="{3AA5C194-A53B-4E45-B40F-D7BEC8D2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2430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30" name="host-right-5">
            <a:extLst xmlns:a="http://schemas.openxmlformats.org/drawingml/2006/main">
              <a:ext uri="{FF2B5EF4-FFF2-40B4-BE49-F238E27FC236}">
                <a16:creationId xmlns:a16="http://schemas.microsoft.com/office/drawing/2014/main" id="{E0D8439B-1571-448D-8223-535BBB6A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624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BRENDAN CRONIN</a:t>
            </a:r>
          </a:p>
        </p:txBody>
      </p:sp>
      <p:sp>
        <p:nvSpPr>
          <p:cNvPr id="31" name="host-right-5-divider">
            <a:extLst xmlns:a="http://schemas.openxmlformats.org/drawingml/2006/main">
              <a:ext uri="{FF2B5EF4-FFF2-40B4-BE49-F238E27FC236}">
                <a16:creationId xmlns:a16="http://schemas.microsoft.com/office/drawing/2014/main" id="{01BFB536-41A5-43D6-BB9B-9309BE4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32" name="host-right-6">
            <a:extLst xmlns:a="http://schemas.openxmlformats.org/drawingml/2006/main">
              <a:ext uri="{FF2B5EF4-FFF2-40B4-BE49-F238E27FC236}">
                <a16:creationId xmlns:a16="http://schemas.microsoft.com/office/drawing/2014/main" id="{458AAA18-2480-4E18-B635-FDFA7A14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29125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PASCAL HAEGELI</a:t>
            </a:r>
          </a:p>
        </p:txBody>
      </p:sp>
      <p:sp>
        <p:nvSpPr>
          <p:cNvPr id="33" name="host-right-6-divider">
            <a:extLst xmlns:a="http://schemas.openxmlformats.org/drawingml/2006/main">
              <a:ext uri="{FF2B5EF4-FFF2-40B4-BE49-F238E27FC236}">
                <a16:creationId xmlns:a16="http://schemas.microsoft.com/office/drawing/2014/main" id="{14E58DFF-5CF7-45BD-9833-96A55031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577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34" name="host-right-7">
            <a:extLst xmlns:a="http://schemas.openxmlformats.org/drawingml/2006/main">
              <a:ext uri="{FF2B5EF4-FFF2-40B4-BE49-F238E27FC236}">
                <a16:creationId xmlns:a16="http://schemas.microsoft.com/office/drawing/2014/main" id="{DCC2C001-C2F7-45C7-9807-9423228A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9585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CALEB MERRILL</a:t>
            </a:r>
          </a:p>
        </p:txBody>
      </p:sp>
      <p:sp>
        <p:nvSpPr>
          <p:cNvPr id="35" name="host-right-7-divider">
            <a:extLst xmlns:a="http://schemas.openxmlformats.org/drawingml/2006/main">
              <a:ext uri="{FF2B5EF4-FFF2-40B4-BE49-F238E27FC236}">
                <a16:creationId xmlns:a16="http://schemas.microsoft.com/office/drawing/2014/main" id="{02818D5B-7725-42AE-8075-75BFC7C6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24475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304955"/>
            </a:solidFill>
            <a:prstDash val="solid"/>
          </a:ln>
        </p:spPr>
      </p:sp>
      <p:sp>
        <p:nvSpPr>
          <p:cNvPr id="36" name="host-right-8">
            <a:extLst xmlns:a="http://schemas.openxmlformats.org/drawingml/2006/main">
              <a:ext uri="{FF2B5EF4-FFF2-40B4-BE49-F238E27FC236}">
                <a16:creationId xmlns:a16="http://schemas.microsoft.com/office/drawing/2014/main" id="{737B1B89-467D-4DE5-9AE4-A60F96AA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62575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1388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BROOKE EDWARDS</a:t>
            </a:r>
          </a:p>
        </p:txBody>
      </p:sp>
      <p:sp>
        <p:nvSpPr>
          <p:cNvPr id="37" name="hosts-accent-rule">
            <a:extLst xmlns:a="http://schemas.openxmlformats.org/drawingml/2006/main">
              <a:ext uri="{FF2B5EF4-FFF2-40B4-BE49-F238E27FC236}">
                <a16:creationId xmlns:a16="http://schemas.microsoft.com/office/drawing/2014/main" id="{818792A2-AAAD-464E-A382-82D7D3ED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4550"/>
            <a:ext cx="1129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38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5BE2F13-0084-4876-B8CE-F5C054F9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9606A"/>
            </a:solidFill>
            <a:prstDash val="solid"/>
          </a:ln>
        </p:spPr>
      </p:sp>
      <p:sp>
        <p:nvSpPr>
          <p:cNvPr id="39" name="footer-site-5">
            <a:extLst xmlns:a="http://schemas.openxmlformats.org/drawingml/2006/main">
              <a:ext uri="{FF2B5EF4-FFF2-40B4-BE49-F238E27FC236}">
                <a16:creationId xmlns:a16="http://schemas.microsoft.com/office/drawing/2014/main" id="{F8E11D04-52D2-4437-B2BC-69CCF14F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DE8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DE8EB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</p:txBody>
      </p:sp>
      <p:sp>
        <p:nvSpPr>
          <p:cNvPr id="40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CD44E17-B572-49C1-8A0E-4BCA7111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DDE8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DE8E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7696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C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listener-proof">
            <a:extLst xmlns:a="http://schemas.openxmlformats.org/drawingml/2006/main">
              <a:ext uri="{FF2B5EF4-FFF2-40B4-BE49-F238E27FC236}">
                <a16:creationId xmlns:a16="http://schemas.microsoft.com/office/drawing/2014/main" id="{B01BBB17-4A86-4ADF-B011-6E0D3CF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LISTENER PROOF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56CD1C-50DB-4E42-8A46-9093BC41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90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Listeners carry something useful away.</a:t>
            </a:r>
          </a:p>
        </p:txBody>
      </p:sp>
      <p:sp>
        <p:nvSpPr>
          <p:cNvPr id="3" name="reviews-intro">
            <a:extLst xmlns:a="http://schemas.openxmlformats.org/drawingml/2006/main">
              <a:ext uri="{FF2B5EF4-FFF2-40B4-BE49-F238E27FC236}">
                <a16:creationId xmlns:a16="http://schemas.microsoft.com/office/drawing/2014/main" id="{7CF45C3B-8320-4084-8602-58D0ABB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4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 feedback is consistent: practical value, different perspectives, and a voice people want in the background when they are not in the mountains.</a:t>
            </a:r>
          </a:p>
        </p:txBody>
      </p:sp>
      <p:sp>
        <p:nvSpPr>
          <p:cNvPr id="4" name="reviews-divider">
            <a:extLst xmlns:a="http://schemas.openxmlformats.org/drawingml/2006/main">
              <a:ext uri="{FF2B5EF4-FFF2-40B4-BE49-F238E27FC236}">
                <a16:creationId xmlns:a16="http://schemas.microsoft.com/office/drawing/2014/main" id="{7BB6746E-ED76-42C2-939E-4AC7DE6B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DB0B8"/>
            </a:solidFill>
            <a:prstDash val="solid"/>
          </a:ln>
        </p:spPr>
      </p:sp>
      <p:sp>
        <p:nvSpPr>
          <p:cNvPr id="5" name="review-one-stars">
            <a:extLst xmlns:a="http://schemas.openxmlformats.org/drawingml/2006/main">
              <a:ext uri="{FF2B5EF4-FFF2-40B4-BE49-F238E27FC236}">
                <a16:creationId xmlns:a16="http://schemas.microsoft.com/office/drawing/2014/main" id="{C52CF4DA-DE40-458C-AF51-F9655A3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EF6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EF6F35"/>
                </a:solidFill>
                <a:latin typeface="Helvetica Neue"/>
                <a:ea typeface="Helvetica Neue"/>
                <a:cs typeface="Helvetica Neue"/>
              </a:rPr>
              <a:t>★★★★★</a:t>
            </a:r>
          </a:p>
        </p:txBody>
      </p:sp>
      <p:sp>
        <p:nvSpPr>
          <p:cNvPr id="6" name="review-one-title">
            <a:extLst xmlns:a="http://schemas.openxmlformats.org/drawingml/2006/main">
              <a:ext uri="{FF2B5EF4-FFF2-40B4-BE49-F238E27FC236}">
                <a16:creationId xmlns:a16="http://schemas.microsoft.com/office/drawing/2014/main" id="{87B80E1B-D5AF-4446-80D8-C9D8FF81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0" i="1">
                <a:solidFill>
                  <a:srgbClr val="10222D"/>
                </a:solidFill>
                <a:latin typeface="Georgia"/>
                <a:ea typeface="Georgia"/>
                <a:cs typeface="Georgia"/>
              </a:defRPr>
            </a:pPr>
            <a:r>
              <a:rPr sz="2625" b="0" i="1">
                <a:solidFill>
                  <a:srgbClr val="10222D"/>
                </a:solidFill>
                <a:latin typeface="Georgia"/>
                <a:ea typeface="Georgia"/>
                <a:cs typeface="Georgia"/>
              </a:rPr>
              <a:t>Educational &amp; Enjoyable</a:t>
            </a:r>
          </a:p>
        </p:txBody>
      </p:sp>
      <p:sp>
        <p:nvSpPr>
          <p:cNvPr id="7" name="review-one-summary">
            <a:extLst xmlns:a="http://schemas.openxmlformats.org/drawingml/2006/main">
              <a:ext uri="{FF2B5EF4-FFF2-40B4-BE49-F238E27FC236}">
                <a16:creationId xmlns:a16="http://schemas.microsoft.com/office/drawing/2014/main" id="{42147338-EE26-410A-A952-28463336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“I always walk away from an episode with at least one piece of wisdom.”</a:t>
            </a:r>
          </a:p>
        </p:txBody>
      </p:sp>
      <p:sp>
        <p:nvSpPr>
          <p:cNvPr id="8" name="review-one-attribution">
            <a:extLst xmlns:a="http://schemas.openxmlformats.org/drawingml/2006/main">
              <a:ext uri="{FF2B5EF4-FFF2-40B4-BE49-F238E27FC236}">
                <a16:creationId xmlns:a16="http://schemas.microsoft.com/office/drawing/2014/main" id="{A17E0BD8-4DDF-4AEF-A446-658B5D7D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PhilSkis23  ·  Mar 30, 2026</a:t>
            </a:r>
          </a:p>
        </p:txBody>
      </p:sp>
      <p:sp>
        <p:nvSpPr>
          <p:cNvPr id="9" name="review-two-stars">
            <a:extLst xmlns:a="http://schemas.openxmlformats.org/drawingml/2006/main">
              <a:ext uri="{FF2B5EF4-FFF2-40B4-BE49-F238E27FC236}">
                <a16:creationId xmlns:a16="http://schemas.microsoft.com/office/drawing/2014/main" id="{747EFA9B-807B-48D4-B580-300569A8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EF6F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EF6F35"/>
                </a:solidFill>
                <a:latin typeface="Helvetica Neue"/>
                <a:ea typeface="Helvetica Neue"/>
                <a:cs typeface="Helvetica Neue"/>
              </a:rPr>
              <a:t>★★★★★</a:t>
            </a:r>
          </a:p>
        </p:txBody>
      </p:sp>
      <p:sp>
        <p:nvSpPr>
          <p:cNvPr id="10" name="review-two-title">
            <a:extLst xmlns:a="http://schemas.openxmlformats.org/drawingml/2006/main">
              <a:ext uri="{FF2B5EF4-FFF2-40B4-BE49-F238E27FC236}">
                <a16:creationId xmlns:a16="http://schemas.microsoft.com/office/drawing/2014/main" id="{4DC1F808-522C-4748-A053-862056B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622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0" i="1">
                <a:solidFill>
                  <a:srgbClr val="10222D"/>
                </a:solidFill>
                <a:latin typeface="Georgia"/>
                <a:ea typeface="Georgia"/>
                <a:cs typeface="Georgia"/>
              </a:defRPr>
            </a:pPr>
            <a:r>
              <a:rPr sz="2400" b="0" i="1">
                <a:solidFill>
                  <a:srgbClr val="10222D"/>
                </a:solidFill>
                <a:latin typeface="Georgia"/>
                <a:ea typeface="Georgia"/>
                <a:cs typeface="Georgia"/>
              </a:rPr>
              <a:t>Tremendous content and guests</a:t>
            </a:r>
          </a:p>
        </p:txBody>
      </p:sp>
      <p:sp>
        <p:nvSpPr>
          <p:cNvPr id="11" name="review-two-summary">
            <a:extLst xmlns:a="http://schemas.openxmlformats.org/drawingml/2006/main">
              <a:ext uri="{FF2B5EF4-FFF2-40B4-BE49-F238E27FC236}">
                <a16:creationId xmlns:a16="http://schemas.microsoft.com/office/drawing/2014/main" id="{2CAE17AC-E8FD-4F56-9307-3F96FDD8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957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725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“It’s highly educational—from emotional well-being and self-care to technical know-how—and, best of all, it’s entertaining.”</a:t>
            </a:r>
          </a:p>
        </p:txBody>
      </p:sp>
      <p:sp>
        <p:nvSpPr>
          <p:cNvPr id="12" name="review-two-attribution">
            <a:extLst xmlns:a="http://schemas.openxmlformats.org/drawingml/2006/main">
              <a:ext uri="{FF2B5EF4-FFF2-40B4-BE49-F238E27FC236}">
                <a16:creationId xmlns:a16="http://schemas.microsoft.com/office/drawing/2014/main" id="{71B8DDA1-1AE5-4623-A914-53F09DC2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81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WhistleTrout  ·  Dec 5, 2023</a:t>
            </a:r>
          </a:p>
        </p:txBody>
      </p:sp>
      <p:sp>
        <p:nvSpPr>
          <p:cNvPr id="1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5253CB62-CD05-48A5-9E60-69320B9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8CB"/>
            </a:solidFill>
            <a:prstDash val="solid"/>
          </a:ln>
        </p:spPr>
      </p:sp>
      <p:sp>
        <p:nvSpPr>
          <p:cNvPr id="14" name="footer-site-6">
            <a:extLst xmlns:a="http://schemas.openxmlformats.org/drawingml/2006/main">
              <a:ext uri="{FF2B5EF4-FFF2-40B4-BE49-F238E27FC236}">
                <a16:creationId xmlns:a16="http://schemas.microsoft.com/office/drawing/2014/main" id="{548506F1-EF06-4507-B477-99C6813C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</p:txBody>
      </p:sp>
      <p:sp>
        <p:nvSpPr>
          <p:cNvPr id="1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64015F2-1DEE-4222-AF41-F5FF2651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8715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5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partner-proof">
            <a:extLst xmlns:a="http://schemas.openxmlformats.org/drawingml/2006/main">
              <a:ext uri="{FF2B5EF4-FFF2-40B4-BE49-F238E27FC236}">
                <a16:creationId xmlns:a16="http://schemas.microsoft.com/office/drawing/2014/main" id="{0E286F5E-D8CB-4F5A-B572-E9D3A7EB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PARTNER PROOF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513320-F4A8-4902-BC73-937A3DA6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750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Because you always need a good partner…</a:t>
            </a:r>
          </a:p>
        </p:txBody>
      </p:sp>
      <p:sp>
        <p:nvSpPr>
          <p:cNvPr id="3" name="partner-proof-intro">
            <a:extLst xmlns:a="http://schemas.openxmlformats.org/drawingml/2006/main">
              <a:ext uri="{FF2B5EF4-FFF2-40B4-BE49-F238E27FC236}">
                <a16:creationId xmlns:a16="http://schemas.microsoft.com/office/drawing/2014/main" id="{62A04B56-06B6-4395-AB6F-173A5B0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 value is not generic reach. It is a credible place inside a community that already cares about the subject.</a:t>
            </a:r>
          </a:p>
        </p:txBody>
      </p:sp>
      <p:sp>
        <p:nvSpPr>
          <p:cNvPr id="4" name="partner-proof-divider">
            <a:extLst xmlns:a="http://schemas.openxmlformats.org/drawingml/2006/main">
              <a:ext uri="{FF2B5EF4-FFF2-40B4-BE49-F238E27FC236}">
                <a16:creationId xmlns:a16="http://schemas.microsoft.com/office/drawing/2014/main" id="{CA5E2DD3-F654-4611-9D6D-4CC98E63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7C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86bdd6dc04ae3"/>
          <a:stretch xmlns:a="http://schemas.openxmlformats.org/drawingml/2006/main"/>
        </p:blipFill>
        <p:spPr>
          <a:xfrm xmlns:a="http://schemas.openxmlformats.org/drawingml/2006/main">
            <a:off x="609722" y="2133600"/>
            <a:ext cx="2476256" cy="448628"/>
          </a:xfrm>
          <a:prstGeom xmlns:a="http://schemas.openxmlformats.org/drawingml/2006/main" prst="rect">
            <a:avLst/>
          </a:prstGeom>
        </p:spPr>
      </p:pic>
      <p:sp>
        <p:nvSpPr>
          <p:cNvPr id="6" name="austin-quote-mark">
            <a:extLst xmlns:a="http://schemas.openxmlformats.org/drawingml/2006/main">
              <a:ext uri="{FF2B5EF4-FFF2-40B4-BE49-F238E27FC236}">
                <a16:creationId xmlns:a16="http://schemas.microsoft.com/office/drawing/2014/main" id="{6DFE585F-359B-4B9B-8887-754FC4AF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0" i="0">
                <a:solidFill>
                  <a:srgbClr val="EF6F35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EF6F35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7" name="austin-quote">
            <a:extLst xmlns:a="http://schemas.openxmlformats.org/drawingml/2006/main">
              <a:ext uri="{FF2B5EF4-FFF2-40B4-BE49-F238E27FC236}">
                <a16:creationId xmlns:a16="http://schemas.microsoft.com/office/drawing/2014/main" id="{635E3E8A-6E74-424D-A300-F8DFD122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 i="1">
                <a:solidFill>
                  <a:srgbClr val="10222D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10222D"/>
                </a:solidFill>
                <a:latin typeface="Georgia"/>
                <a:ea typeface="Georgia"/>
                <a:cs typeface="Georgia"/>
              </a:rPr>
              <a:t>Austin Powder Avalanche is proud to sponsor the Avalanche Hour Podcast, helping bring the past and future of our industry to the forefront.</a:t>
            </a:r>
          </a:p>
        </p:txBody>
      </p:sp>
      <p:sp>
        <p:nvSpPr>
          <p:cNvPr id="8" name="austin-quote-rule">
            <a:extLst xmlns:a="http://schemas.openxmlformats.org/drawingml/2006/main">
              <a:ext uri="{FF2B5EF4-FFF2-40B4-BE49-F238E27FC236}">
                <a16:creationId xmlns:a16="http://schemas.microsoft.com/office/drawing/2014/main" id="{B45D55A5-4314-430A-BD27-748C5D0F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9" name="austin-attribution">
            <a:extLst xmlns:a="http://schemas.openxmlformats.org/drawingml/2006/main">
              <a:ext uri="{FF2B5EF4-FFF2-40B4-BE49-F238E27FC236}">
                <a16:creationId xmlns:a16="http://schemas.microsoft.com/office/drawing/2014/main" id="{D1A7D376-5D9E-4869-933B-CB0014D1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rPr>
              <a:t>BRADEN SCHMIDT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rPr>
              <a:t>PRESIDENT · AUSTIN POWDER AVALANCHE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efc6cf34149ec"/>
          <a:stretch xmlns:a="http://schemas.openxmlformats.org/drawingml/2006/main"/>
        </p:blipFill>
        <p:spPr>
          <a:xfrm xmlns:a="http://schemas.openxmlformats.org/drawingml/2006/main">
            <a:off x="6667500" y="2077033"/>
            <a:ext cx="2552700" cy="621769"/>
          </a:xfrm>
          <a:prstGeom xmlns:a="http://schemas.openxmlformats.org/drawingml/2006/main" prst="rect">
            <a:avLst/>
          </a:prstGeom>
        </p:spPr>
      </p:pic>
      <p:sp>
        <p:nvSpPr>
          <p:cNvPr id="11" name="propagation-quote-mark">
            <a:extLst xmlns:a="http://schemas.openxmlformats.org/drawingml/2006/main">
              <a:ext uri="{FF2B5EF4-FFF2-40B4-BE49-F238E27FC236}">
                <a16:creationId xmlns:a16="http://schemas.microsoft.com/office/drawing/2014/main" id="{26C5F691-1A1D-438B-967E-17A26030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0" i="0">
                <a:solidFill>
                  <a:srgbClr val="EF6F35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EF6F35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12" name="propagation-quote">
            <a:extLst xmlns:a="http://schemas.openxmlformats.org/drawingml/2006/main">
              <a:ext uri="{FF2B5EF4-FFF2-40B4-BE49-F238E27FC236}">
                <a16:creationId xmlns:a16="http://schemas.microsoft.com/office/drawing/2014/main" id="{3DD14790-79F1-4FE1-91AB-BD00F2BC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 i="1">
                <a:solidFill>
                  <a:srgbClr val="10222D"/>
                </a:solidFill>
                <a:latin typeface="Georgia"/>
                <a:ea typeface="Georgia"/>
                <a:cs typeface="Georgia"/>
              </a:defRPr>
            </a:pPr>
            <a:r>
              <a:rPr sz="1800" b="0" i="1">
                <a:solidFill>
                  <a:srgbClr val="10222D"/>
                </a:solidFill>
                <a:latin typeface="Georgia"/>
                <a:ea typeface="Georgia"/>
                <a:cs typeface="Georgia"/>
              </a:rPr>
              <a:t>Advertising on The Avalanche Hour has been an incredible way for us to connect with the core snow and avalanche community.</a:t>
            </a:r>
          </a:p>
        </p:txBody>
      </p:sp>
      <p:sp>
        <p:nvSpPr>
          <p:cNvPr id="13" name="propagation-quote-rule">
            <a:extLst xmlns:a="http://schemas.openxmlformats.org/drawingml/2006/main">
              <a:ext uri="{FF2B5EF4-FFF2-40B4-BE49-F238E27FC236}">
                <a16:creationId xmlns:a16="http://schemas.microsoft.com/office/drawing/2014/main" id="{1C9FEA03-F11D-4685-93A2-10828FA1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767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14" name="propagation-attribution">
            <a:extLst xmlns:a="http://schemas.openxmlformats.org/drawingml/2006/main">
              <a:ext uri="{FF2B5EF4-FFF2-40B4-BE49-F238E27FC236}">
                <a16:creationId xmlns:a16="http://schemas.microsoft.com/office/drawing/2014/main" id="{40D579F9-65E5-433E-B1E0-85B7F17A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rPr>
              <a:t>GARRETT HARMSEN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6794"/>
                </a:solidFill>
                <a:latin typeface="Helvetica Neue"/>
                <a:ea typeface="Helvetica Neue"/>
                <a:cs typeface="Helvetica Neue"/>
              </a:rPr>
              <a:t>CO-FOUNDER · PROPAGATION LABS</a:t>
            </a:r>
          </a:p>
        </p:txBody>
      </p:sp>
      <p:sp>
        <p:nvSpPr>
          <p:cNvPr id="1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72E6B4EA-ECE6-46EE-A506-2AF953C9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8CB"/>
            </a:solidFill>
            <a:prstDash val="solid"/>
          </a:ln>
        </p:spPr>
      </p:sp>
      <p:sp>
        <p:nvSpPr>
          <p:cNvPr id="16" name="footer-site-7">
            <a:extLst xmlns:a="http://schemas.openxmlformats.org/drawingml/2006/main">
              <a:ext uri="{FF2B5EF4-FFF2-40B4-BE49-F238E27FC236}">
                <a16:creationId xmlns:a16="http://schemas.microsoft.com/office/drawing/2014/main" id="{04A44D24-29AC-4AB6-8ECD-F826C3FC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</p:txBody>
      </p:sp>
      <p:sp>
        <p:nvSpPr>
          <p:cNvPr id="1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26B75EE4-D60C-440B-852F-7A839A5E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4208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partnership-levels">
            <a:extLst xmlns:a="http://schemas.openxmlformats.org/drawingml/2006/main">
              <a:ext uri="{FF2B5EF4-FFF2-40B4-BE49-F238E27FC236}">
                <a16:creationId xmlns:a16="http://schemas.microsoft.com/office/drawing/2014/main" id="{D198995D-C78F-45CB-8D7F-544058A1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B9471D"/>
                </a:solidFill>
                <a:latin typeface="Helvetica Neue"/>
                <a:ea typeface="Helvetica Neue"/>
                <a:cs typeface="Helvetica Neue"/>
              </a:rPr>
              <a:t>PARTNERSHIP LEVELS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AE2F69-FEE4-411C-9026-DD4612F1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2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Start with one episode—or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2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32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stay present all year.</a:t>
            </a:r>
          </a:p>
        </p:txBody>
      </p:sp>
      <p:sp>
        <p:nvSpPr>
          <p:cNvPr id="3" name="packages-intro">
            <a:extLst xmlns:a="http://schemas.openxmlformats.org/drawingml/2006/main">
              <a:ext uri="{FF2B5EF4-FFF2-40B4-BE49-F238E27FC236}">
                <a16:creationId xmlns:a16="http://schemas.microsoft.com/office/drawing/2014/main" id="{2BC89804-5542-4DAD-A687-2CC0F584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Each level supports production while giving partners a clear, credible presence with the audience.</a:t>
            </a:r>
          </a:p>
        </p:txBody>
      </p:sp>
      <p:sp>
        <p:nvSpPr>
          <p:cNvPr id="4" name="package-divider-1">
            <a:extLst xmlns:a="http://schemas.openxmlformats.org/drawingml/2006/main">
              <a:ext uri="{FF2B5EF4-FFF2-40B4-BE49-F238E27FC236}">
                <a16:creationId xmlns:a16="http://schemas.microsoft.com/office/drawing/2014/main" id="{E8421B9F-E570-4D38-BEB4-46C5A21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DCF"/>
            </a:solidFill>
            <a:prstDash val="solid"/>
          </a:ln>
        </p:spPr>
      </p:sp>
      <p:sp>
        <p:nvSpPr>
          <p:cNvPr id="5" name="package-divider-2">
            <a:extLst xmlns:a="http://schemas.openxmlformats.org/drawingml/2006/main">
              <a:ext uri="{FF2B5EF4-FFF2-40B4-BE49-F238E27FC236}">
                <a16:creationId xmlns:a16="http://schemas.microsoft.com/office/drawing/2014/main" id="{AE25FA88-FAE1-4E10-8364-3A9909C5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DCF"/>
            </a:solidFill>
            <a:prstDash val="solid"/>
          </a:ln>
        </p:spPr>
      </p:sp>
      <p:sp>
        <p:nvSpPr>
          <p:cNvPr id="6" name="package-divider-3">
            <a:extLst xmlns:a="http://schemas.openxmlformats.org/drawingml/2006/main">
              <a:ext uri="{FF2B5EF4-FFF2-40B4-BE49-F238E27FC236}">
                <a16:creationId xmlns:a16="http://schemas.microsoft.com/office/drawing/2014/main" id="{13BC492F-4C5B-4050-9070-F597EC8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DCF"/>
            </a:solidFill>
            <a:prstDash val="solid"/>
          </a:ln>
        </p:spPr>
      </p:sp>
      <p:sp>
        <p:nvSpPr>
          <p:cNvPr id="7" name="package-friend-name">
            <a:extLst xmlns:a="http://schemas.openxmlformats.org/drawingml/2006/main">
              <a:ext uri="{FF2B5EF4-FFF2-40B4-BE49-F238E27FC236}">
                <a16:creationId xmlns:a16="http://schemas.microsoft.com/office/drawing/2014/main" id="{46732066-AC4A-4622-8A09-7396A3D4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defRPr>
            </a:pPr>
            <a:r>
              <a: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rPr>
              <a:t>FRIEND</a:t>
            </a:r>
          </a:p>
        </p:txBody>
      </p:sp>
      <p:sp>
        <p:nvSpPr>
          <p:cNvPr id="8" name="package-friend-price">
            <a:extLst xmlns:a="http://schemas.openxmlformats.org/drawingml/2006/main">
              <a:ext uri="{FF2B5EF4-FFF2-40B4-BE49-F238E27FC236}">
                <a16:creationId xmlns:a16="http://schemas.microsoft.com/office/drawing/2014/main" id="{2937C371-0F55-4194-A43E-8963919F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241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$500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/ EPISODE</a:t>
            </a:r>
          </a:p>
        </p:txBody>
      </p:sp>
      <p:sp>
        <p:nvSpPr>
          <p:cNvPr id="9" name="package-friend-rule">
            <a:extLst xmlns:a="http://schemas.openxmlformats.org/drawingml/2006/main">
              <a:ext uri="{FF2B5EF4-FFF2-40B4-BE49-F238E27FC236}">
                <a16:creationId xmlns:a16="http://schemas.microsoft.com/office/drawing/2014/main" id="{3FCEA769-705B-455D-B6D2-06557999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10" name="package-friend-detail">
            <a:extLst xmlns:a="http://schemas.openxmlformats.org/drawingml/2006/main">
              <a:ext uri="{FF2B5EF4-FFF2-40B4-BE49-F238E27FC236}">
                <a16:creationId xmlns:a16="http://schemas.microsoft.com/office/drawing/2014/main" id="{72BC0063-0921-4401-AB66-D23B499D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24193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1–2 minute mid-episode message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Intro / outro acknowledgment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Social post + website logo</a:t>
            </a:r>
          </a:p>
        </p:txBody>
      </p:sp>
      <p:sp>
        <p:nvSpPr>
          <p:cNvPr id="11" name="package-partner-name">
            <a:extLst xmlns:a="http://schemas.openxmlformats.org/drawingml/2006/main">
              <a:ext uri="{FF2B5EF4-FFF2-40B4-BE49-F238E27FC236}">
                <a16:creationId xmlns:a16="http://schemas.microsoft.com/office/drawing/2014/main" id="{12D8AD7B-8960-41AC-82A0-7A019D90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defRPr>
            </a:pPr>
            <a:r>
              <a: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rPr>
              <a:t>PARTNER</a:t>
            </a:r>
          </a:p>
        </p:txBody>
      </p:sp>
      <p:sp>
        <p:nvSpPr>
          <p:cNvPr id="12" name="package-partner-price">
            <a:extLst xmlns:a="http://schemas.openxmlformats.org/drawingml/2006/main">
              <a:ext uri="{FF2B5EF4-FFF2-40B4-BE49-F238E27FC236}">
                <a16:creationId xmlns:a16="http://schemas.microsoft.com/office/drawing/2014/main" id="{471C5FEE-D4CA-495C-9029-F848E770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$4,000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/ SEASON</a:t>
            </a:r>
          </a:p>
        </p:txBody>
      </p:sp>
      <p:sp>
        <p:nvSpPr>
          <p:cNvPr id="13" name="package-partner-rule">
            <a:extLst xmlns:a="http://schemas.openxmlformats.org/drawingml/2006/main">
              <a:ext uri="{FF2B5EF4-FFF2-40B4-BE49-F238E27FC236}">
                <a16:creationId xmlns:a16="http://schemas.microsoft.com/office/drawing/2014/main" id="{C768FC90-97C7-426F-A84C-8784A81C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194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14" name="package-partner-detail">
            <a:extLst xmlns:a="http://schemas.openxmlformats.org/drawingml/2006/main">
              <a:ext uri="{FF2B5EF4-FFF2-40B4-BE49-F238E27FC236}">
                <a16:creationId xmlns:a16="http://schemas.microsoft.com/office/drawing/2014/main" id="{3EBC60CC-5C87-4097-B36B-85648E27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09950"/>
            <a:ext cx="22669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10–15 minutes per season for a representative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Acknowledgment on 25+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Social post + website logo</a:t>
            </a:r>
          </a:p>
        </p:txBody>
      </p:sp>
      <p:sp>
        <p:nvSpPr>
          <p:cNvPr id="15" name="package-legacy-name">
            <a:extLst xmlns:a="http://schemas.openxmlformats.org/drawingml/2006/main">
              <a:ext uri="{FF2B5EF4-FFF2-40B4-BE49-F238E27FC236}">
                <a16:creationId xmlns:a16="http://schemas.microsoft.com/office/drawing/2014/main" id="{C4095DAF-BD40-49A5-B76B-42659F64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defRPr>
            </a:pPr>
            <a:r>
              <a: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rPr>
              <a:t>LEGACY</a:t>
            </a:r>
          </a:p>
        </p:txBody>
      </p:sp>
      <p:sp>
        <p:nvSpPr>
          <p:cNvPr id="16" name="package-legacy-price">
            <a:extLst xmlns:a="http://schemas.openxmlformats.org/drawingml/2006/main">
              <a:ext uri="{FF2B5EF4-FFF2-40B4-BE49-F238E27FC236}">
                <a16:creationId xmlns:a16="http://schemas.microsoft.com/office/drawing/2014/main" id="{48C54329-5B66-46C2-B2B1-9446DEDD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26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$6,000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/ SEASON</a:t>
            </a:r>
          </a:p>
        </p:txBody>
      </p:sp>
      <p:sp>
        <p:nvSpPr>
          <p:cNvPr id="17" name="package-legacy-rule">
            <a:extLst xmlns:a="http://schemas.openxmlformats.org/drawingml/2006/main">
              <a:ext uri="{FF2B5EF4-FFF2-40B4-BE49-F238E27FC236}">
                <a16:creationId xmlns:a16="http://schemas.microsoft.com/office/drawing/2014/main" id="{F2A8212F-7AB3-4D40-A28E-3AC9BBD7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18" name="package-legacy-detail">
            <a:extLst xmlns:a="http://schemas.openxmlformats.org/drawingml/2006/main">
              <a:ext uri="{FF2B5EF4-FFF2-40B4-BE49-F238E27FC236}">
                <a16:creationId xmlns:a16="http://schemas.microsoft.com/office/drawing/2014/main" id="{D387B472-9C3C-4F54-BC23-58335F5A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22669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Season-long support that helps grow the podcast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Designed for deeper, ongoing alignment</a:t>
            </a:r>
          </a:p>
        </p:txBody>
      </p:sp>
      <p:sp>
        <p:nvSpPr>
          <p:cNvPr id="19" name="package-slabs-n-sluffs-name">
            <a:extLst xmlns:a="http://schemas.openxmlformats.org/drawingml/2006/main">
              <a:ext uri="{FF2B5EF4-FFF2-40B4-BE49-F238E27FC236}">
                <a16:creationId xmlns:a16="http://schemas.microsoft.com/office/drawing/2014/main" id="{C9AECC53-C9A6-48C4-9A15-456A6E0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defRPr>
            </a:pPr>
            <a:r>
              <a:rPr sz="1800" b="0" i="0">
                <a:solidFill>
                  <a:srgbClr val="B9471D"/>
                </a:solidFill>
                <a:latin typeface="Bebas Neue"/>
                <a:ea typeface="Bebas Neue"/>
                <a:cs typeface="Bebas Neue"/>
              </a:rPr>
              <a:t>SLABS ’N SLUFFS</a:t>
            </a:r>
          </a:p>
        </p:txBody>
      </p:sp>
      <p:sp>
        <p:nvSpPr>
          <p:cNvPr id="20" name="package-slabs-n-sluffs-price">
            <a:extLst xmlns:a="http://schemas.openxmlformats.org/drawingml/2006/main">
              <a:ext uri="{FF2B5EF4-FFF2-40B4-BE49-F238E27FC236}">
                <a16:creationId xmlns:a16="http://schemas.microsoft.com/office/drawing/2014/main" id="{E1CCA547-29A4-4FE2-B628-0E6BFA3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$5,000+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defRPr>
            </a:pPr>
            <a:r>
              <a:rPr sz="2325" b="0" i="0">
                <a:solidFill>
                  <a:srgbClr val="10222D"/>
                </a:solidFill>
                <a:latin typeface="Bebas Neue"/>
                <a:ea typeface="Bebas Neue"/>
                <a:cs typeface="Bebas Neue"/>
              </a:rPr>
              <a:t>/ SEASON</a:t>
            </a:r>
          </a:p>
        </p:txBody>
      </p:sp>
      <p:sp>
        <p:nvSpPr>
          <p:cNvPr id="21" name="package-slabs-n-sluffs-rule">
            <a:extLst xmlns:a="http://schemas.openxmlformats.org/drawingml/2006/main">
              <a:ext uri="{FF2B5EF4-FFF2-40B4-BE49-F238E27FC236}">
                <a16:creationId xmlns:a16="http://schemas.microsoft.com/office/drawing/2014/main" id="{470083A3-A7D7-44F4-8F31-9A84F4D9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22" name="package-slabs-n-sluffs-detail">
            <a:extLst xmlns:a="http://schemas.openxmlformats.org/drawingml/2006/main">
              <a:ext uri="{FF2B5EF4-FFF2-40B4-BE49-F238E27FC236}">
                <a16:creationId xmlns:a16="http://schemas.microsoft.com/office/drawing/2014/main" id="{3FB9A4B5-9B4D-44D7-862A-698394B0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9950"/>
            <a:ext cx="23241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Extended representative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Guest or topic proposals, subject to editorial approval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Custom collaboration options</a:t>
            </a:r>
          </a:p>
        </p:txBody>
      </p:sp>
      <p:sp>
        <p:nvSpPr>
          <p:cNvPr id="23" name="packages-note">
            <a:extLst xmlns:a="http://schemas.openxmlformats.org/drawingml/2006/main">
              <a:ext uri="{FF2B5EF4-FFF2-40B4-BE49-F238E27FC236}">
                <a16:creationId xmlns:a16="http://schemas.microsoft.com/office/drawing/2014/main" id="{F6DBD9C5-DA74-4ECF-B570-2B5D4E3D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222D"/>
                </a:solidFill>
                <a:latin typeface="Helvetica Neue"/>
                <a:ea typeface="Helvetica Neue"/>
                <a:cs typeface="Helvetica Neue"/>
              </a:rPr>
              <a:t>Custom packages are available when the standard levels are close—but not quite right.</a:t>
            </a:r>
          </a:p>
        </p:txBody>
      </p:sp>
      <p:sp>
        <p:nvSpPr>
          <p:cNvPr id="2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D12CF306-DED0-452E-9AF8-78D0591C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8CB"/>
            </a:solidFill>
            <a:prstDash val="solid"/>
          </a:ln>
        </p:spPr>
      </p:sp>
      <p:sp>
        <p:nvSpPr>
          <p:cNvPr id="25" name="footer-site-8">
            <a:extLst xmlns:a="http://schemas.openxmlformats.org/drawingml/2006/main">
              <a:ext uri="{FF2B5EF4-FFF2-40B4-BE49-F238E27FC236}">
                <a16:creationId xmlns:a16="http://schemas.microsoft.com/office/drawing/2014/main" id="{91B0554B-C7CE-42FD-BDD6-D07141EB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</p:txBody>
      </p:sp>
      <p:sp>
        <p:nvSpPr>
          <p:cNvPr id="2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4BF2A324-1CA6-45F8-8EBD-418FA923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26A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8900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424ecb66e4e17"/>
          <a:stretch xmlns:a="http://schemas.openxmlformats.org/drawingml/2006/main"/>
        </p:blipFill>
        <p:spPr>
          <a:xfrm xmlns:a="http://schemas.openxmlformats.org/drawingml/2006/main">
            <a:off x="457200" y="762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2" name="slabs-copy-field">
            <a:extLst xmlns:a="http://schemas.openxmlformats.org/drawingml/2006/main">
              <a:ext uri="{FF2B5EF4-FFF2-40B4-BE49-F238E27FC236}">
                <a16:creationId xmlns:a16="http://schemas.microsoft.com/office/drawing/2014/main" id="{33E935E2-988E-4DA1-8AEA-EF4447FA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the-monthly-companion-show">
            <a:extLst xmlns:a="http://schemas.openxmlformats.org/drawingml/2006/main">
              <a:ext uri="{FF2B5EF4-FFF2-40B4-BE49-F238E27FC236}">
                <a16:creationId xmlns:a16="http://schemas.microsoft.com/office/drawing/2014/main" id="{B1E069D6-020F-4D62-B1F1-6CF432A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THE MONTHLY COMPANION SHOW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260089-D2C1-4EB2-821C-D8C868AD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0477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390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Monthly, irreverent, and unmistakably Avalanche Hour.</a:t>
            </a:r>
          </a:p>
        </p:txBody>
      </p:sp>
      <p:sp>
        <p:nvSpPr>
          <p:cNvPr id="5" name="slabs-body">
            <a:extLst xmlns:a="http://schemas.openxmlformats.org/drawingml/2006/main">
              <a:ext uri="{FF2B5EF4-FFF2-40B4-BE49-F238E27FC236}">
                <a16:creationId xmlns:a16="http://schemas.microsoft.com/office/drawing/2014/main" id="{BF6C4128-FBD4-476B-AD95-BECDCD9B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650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Hosted by Dom Baker and Sara Boilen, Slabs ’n Sluffs turns listener voicemails, episode recaps, field banter, and partner highlights into a dedicated monthly touchpoint.</a:t>
            </a:r>
          </a:p>
        </p:txBody>
      </p:sp>
      <p:sp>
        <p:nvSpPr>
          <p:cNvPr id="6" name="slabs-price">
            <a:extLst xmlns:a="http://schemas.openxmlformats.org/drawingml/2006/main">
              <a:ext uri="{FF2B5EF4-FFF2-40B4-BE49-F238E27FC236}">
                <a16:creationId xmlns:a16="http://schemas.microsoft.com/office/drawing/2014/main" id="{265E123C-6877-4318-8EAB-F944C4D6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0" i="0">
                <a:solidFill>
                  <a:srgbClr val="EF6F35"/>
                </a:solidFill>
                <a:latin typeface="Bebas Neue"/>
                <a:ea typeface="Bebas Neue"/>
                <a:cs typeface="Bebas Neue"/>
              </a:defRPr>
            </a:pPr>
            <a:r>
              <a:rPr sz="3450" b="0" i="0">
                <a:solidFill>
                  <a:srgbClr val="EF6F35"/>
                </a:solidFill>
                <a:latin typeface="Bebas Neue"/>
                <a:ea typeface="Bebas Neue"/>
                <a:cs typeface="Bebas Neue"/>
              </a:rPr>
              <a:t>$5,000+ / SEASON</a:t>
            </a:r>
          </a:p>
        </p:txBody>
      </p:sp>
      <p:sp>
        <p:nvSpPr>
          <p:cNvPr id="7" name="slabs-rule">
            <a:extLst xmlns:a="http://schemas.openxmlformats.org/drawingml/2006/main">
              <a:ext uri="{FF2B5EF4-FFF2-40B4-BE49-F238E27FC236}">
                <a16:creationId xmlns:a16="http://schemas.microsoft.com/office/drawing/2014/main" id="{8296E43F-5C35-4D55-9352-9393EA5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911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6F35"/>
            </a:solidFill>
            <a:prstDash val="solid"/>
          </a:ln>
        </p:spPr>
      </p:sp>
      <p:sp>
        <p:nvSpPr>
          <p:cNvPr id="8" name="slabs-benefits">
            <a:extLst xmlns:a="http://schemas.openxmlformats.org/drawingml/2006/main">
              <a:ext uri="{FF2B5EF4-FFF2-40B4-BE49-F238E27FC236}">
                <a16:creationId xmlns:a16="http://schemas.microsoft.com/office/drawing/2014/main" id="{8DFD010E-5974-4D80-8429-F2A7927F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Extended representative access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Guest or topic proposals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Custom collaboration options</a:t>
            </a:r>
          </a:p>
        </p:txBody>
      </p:sp>
      <p:sp>
        <p:nvSpPr>
          <p:cNvPr id="9" name="slabs-page-number">
            <a:extLst xmlns:a="http://schemas.openxmlformats.org/drawingml/2006/main">
              <a:ext uri="{FF2B5EF4-FFF2-40B4-BE49-F238E27FC236}">
                <a16:creationId xmlns:a16="http://schemas.microsoft.com/office/drawing/2014/main" id="{8684B564-53A4-474F-A76F-3F4F5ED0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1779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29f48db344c42"/>
          <a:stretch xmlns:a="http://schemas.openxmlformats.org/drawingml/2006/main"/>
        </p:blipFill>
        <p:spPr>
          <a:xfrm xmlns:a="http://schemas.openxmlformats.org/drawingml/2006/main">
            <a:off x="381000" y="228600"/>
            <a:ext cx="11430000" cy="3429000"/>
          </a:xfrm>
          <a:prstGeom xmlns:a="http://schemas.openxmlformats.org/drawingml/2006/main" prst="rect">
            <a:avLst/>
          </a:prstGeom>
        </p:spPr>
      </p:pic>
      <p:sp>
        <p:nvSpPr>
          <p:cNvPr id="2" name="eyebrow-start-a-conversation">
            <a:extLst xmlns:a="http://schemas.openxmlformats.org/drawingml/2006/main">
              <a:ext uri="{FF2B5EF4-FFF2-40B4-BE49-F238E27FC236}">
                <a16:creationId xmlns:a16="http://schemas.microsoft.com/office/drawing/2014/main" id="{B7A617DB-0D06-4F5F-8EF5-3FD92208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START A CONVERSATION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D36E7F-C3F3-4312-9BE0-F59FFAD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3300" b="0" i="0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Build the partnership that fits.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DE634972-7A57-425E-8C88-73BC64FF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Choose a standard level—or collaborate on a custom underwriting and advertising package around your goals.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BC9845A1-6C82-4EDA-9499-4F46C941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 i="0">
                <a:solidFill>
                  <a:srgbClr val="EF6F35"/>
                </a:solidFill>
                <a:latin typeface="Bebas Neue"/>
                <a:ea typeface="Bebas Neue"/>
                <a:cs typeface="Bebas Neue"/>
              </a:defRPr>
            </a:pPr>
            <a:r>
              <a:rPr sz="1500" b="0" i="0">
                <a:solidFill>
                  <a:srgbClr val="EF6F35"/>
                </a:solidFill>
                <a:latin typeface="Bebas Neue"/>
                <a:ea typeface="Bebas Neue"/>
                <a:cs typeface="Bebas Neue"/>
              </a:rPr>
              <a:t>EXPLORE SEASON 11 ADVERTISING + UNDERWRITING</a:t>
            </a:r>
          </a:p>
        </p:txBody>
      </p:sp>
      <p:sp>
        <p:nvSpPr>
          <p:cNvPr id="6" name="close-contact">
            <a:extLst xmlns:a="http://schemas.openxmlformats.org/drawingml/2006/main">
              <a:ext uri="{FF2B5EF4-FFF2-40B4-BE49-F238E27FC236}">
                <a16:creationId xmlns:a16="http://schemas.microsoft.com/office/drawing/2014/main" id="{DF52E59C-CCD6-4F02-AEB5-74C1B3B1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00600"/>
            <a:ext cx="4438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theavalanchehour.com/support</a:t>
            </a:r>
          </a:p>
          <a:p xmlns:a="http://schemas.openxmlformats.org/drawingml/2006/main">
            <a:pPr algn="r">
              <a:lnSpc>
                <a:spcPct val="14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theavalanchehourpodcast@gmail.com</a:t>
            </a:r>
          </a:p>
        </p:txBody>
      </p:sp>
      <p:sp>
        <p:nvSpPr>
          <p:cNvPr id="7" name="instagram-mark-frame">
            <a:extLst xmlns:a="http://schemas.openxmlformats.org/drawingml/2006/main">
              <a:ext uri="{FF2B5EF4-FFF2-40B4-BE49-F238E27FC236}">
                <a16:creationId xmlns:a16="http://schemas.microsoft.com/office/drawing/2014/main" id="{534045DE-DDC0-4DB9-B9A0-F6BD5B23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772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22860">
            <a:solidFill>
              <a:srgbClr val="C8E4ED"/>
            </a:solidFill>
            <a:prstDash val="solid"/>
          </a:ln>
        </p:spPr>
      </p:sp>
      <p:sp>
        <p:nvSpPr>
          <p:cNvPr id="8" name="instagram-mark-lens">
            <a:extLst xmlns:a="http://schemas.openxmlformats.org/drawingml/2006/main">
              <a:ext uri="{FF2B5EF4-FFF2-40B4-BE49-F238E27FC236}">
                <a16:creationId xmlns:a16="http://schemas.microsoft.com/office/drawing/2014/main" id="{4DC94974-3B3D-411D-905F-69741976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1838" y="5862638"/>
            <a:ext cx="180975" cy="1809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C8E4ED"/>
            </a:solidFill>
            <a:prstDash val="solid"/>
          </a:ln>
        </p:spPr>
      </p:sp>
      <p:sp>
        <p:nvSpPr>
          <p:cNvPr id="9" name="instagram-mark-dot">
            <a:extLst xmlns:a="http://schemas.openxmlformats.org/drawingml/2006/main">
              <a:ext uri="{FF2B5EF4-FFF2-40B4-BE49-F238E27FC236}">
                <a16:creationId xmlns:a16="http://schemas.microsoft.com/office/drawing/2014/main" id="{432663FA-32E3-4227-AD79-EE100CA8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335" y="5833682"/>
            <a:ext cx="36195" cy="36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E4ED"/>
          </a:solidFill>
          <a:ln xmlns:a="http://schemas.openxmlformats.org/drawingml/2006/main" w="0">
            <a:solidFill>
              <a:srgbClr val="C8E4ED"/>
            </a:solidFill>
            <a:prstDash val="solid"/>
          </a:ln>
        </p:spPr>
      </p:sp>
      <p:sp>
        <p:nvSpPr>
          <p:cNvPr id="10" name="close-instagram">
            <a:extLst xmlns:a="http://schemas.openxmlformats.org/drawingml/2006/main">
              <a:ext uri="{FF2B5EF4-FFF2-40B4-BE49-F238E27FC236}">
                <a16:creationId xmlns:a16="http://schemas.microsoft.com/office/drawing/2014/main" id="{8DF07A34-CCB4-438F-9202-F7996450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674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@THEAVALANCHEHOURPODCAST</a:t>
            </a:r>
          </a:p>
        </p:txBody>
      </p:sp>
      <p:sp>
        <p:nvSpPr>
          <p:cNvPr id="11" name="close-page-number">
            <a:extLst xmlns:a="http://schemas.openxmlformats.org/drawingml/2006/main">
              <a:ext uri="{FF2B5EF4-FFF2-40B4-BE49-F238E27FC236}">
                <a16:creationId xmlns:a16="http://schemas.microsoft.com/office/drawing/2014/main" id="{C08BAE59-4027-4060-9F55-E2EFA6F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C8E4E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0934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2026-08-21T17:09:29.2640000Z</dcterms:created>
  <dcterms:modified xsi:type="dcterms:W3CDTF">2026-08-21T17:09:29.2640000Z</dcterms:modified>
</coreProperties>
</file>